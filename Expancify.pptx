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266" r:id="rId4"/>
    <p:sldId id="278" r:id="rId5"/>
    <p:sldId id="267" r:id="rId6"/>
    <p:sldId id="268" r:id="rId7"/>
    <p:sldId id="269" r:id="rId8"/>
    <p:sldId id="270" r:id="rId9"/>
    <p:sldId id="272" r:id="rId10"/>
    <p:sldId id="274" r:id="rId11"/>
    <p:sldId id="275" r:id="rId12"/>
    <p:sldId id="276" r:id="rId13"/>
    <p:sldId id="279"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2" autoAdjust="0"/>
    <p:restoredTop sz="94559" autoAdjust="0"/>
  </p:normalViewPr>
  <p:slideViewPr>
    <p:cSldViewPr snapToGrid="0" showGuides="1">
      <p:cViewPr varScale="1">
        <p:scale>
          <a:sx n="92" d="100"/>
          <a:sy n="92" d="100"/>
        </p:scale>
        <p:origin x="379" y="77"/>
      </p:cViewPr>
      <p:guideLst>
        <p:guide orient="horz" pos="2160"/>
        <p:guide pos="3840"/>
      </p:guideLst>
    </p:cSldViewPr>
  </p:slideViewPr>
  <p:notesTextViewPr>
    <p:cViewPr>
      <p:scale>
        <a:sx n="1" d="1"/>
        <a:sy n="1" d="1"/>
      </p:scale>
      <p:origin x="0" y="0"/>
    </p:cViewPr>
  </p:notesTextViewPr>
  <p:notesViewPr>
    <p:cSldViewPr snapToGrid="0" showGuides="1">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24.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3D11E1C0-16C7-0A55-EA2C-08685083C0A6}"/>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7376160" cy="4458022"/>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4737E3-B7EF-C36D-3F40-4539A7E3D4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E193C-EA0C-9D29-0505-F3E10B918A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120A3A-57DF-4E27-A938-C9CB18371920}" type="datetimeFigureOut">
              <a:rPr lang="en-US" smtClean="0"/>
              <a:t>4/29/2026</a:t>
            </a:fld>
            <a:endParaRPr lang="en-US"/>
          </a:p>
        </p:txBody>
      </p:sp>
      <p:sp>
        <p:nvSpPr>
          <p:cNvPr id="4" name="Footer Placeholder 3">
            <a:extLst>
              <a:ext uri="{FF2B5EF4-FFF2-40B4-BE49-F238E27FC236}">
                <a16:creationId xmlns:a16="http://schemas.microsoft.com/office/drawing/2014/main" id="{4386EEDC-13CE-28A8-E844-DC63E59B7E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35EE97-51CE-81BD-B5CD-D9814F382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0D7A73-8F03-409A-BE31-6E23BC7710C5}" type="slidenum">
              <a:rPr lang="en-US" smtClean="0"/>
              <a:t>‹#›</a:t>
            </a:fld>
            <a:endParaRPr lang="en-US"/>
          </a:p>
        </p:txBody>
      </p:sp>
    </p:spTree>
    <p:extLst>
      <p:ext uri="{BB962C8B-B14F-4D97-AF65-F5344CB8AC3E}">
        <p14:creationId xmlns:p14="http://schemas.microsoft.com/office/powerpoint/2010/main" val="118059423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05AD8A-73DF-4EB2-BCCF-08F085C123AA}"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42390-4565-48BF-B2BF-3ADAF840DD91}" type="slidenum">
              <a:rPr lang="en-US" smtClean="0"/>
              <a:t>‹#›</a:t>
            </a:fld>
            <a:endParaRPr lang="en-US"/>
          </a:p>
        </p:txBody>
      </p:sp>
    </p:spTree>
    <p:extLst>
      <p:ext uri="{BB962C8B-B14F-4D97-AF65-F5344CB8AC3E}">
        <p14:creationId xmlns:p14="http://schemas.microsoft.com/office/powerpoint/2010/main" val="544017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42390-4565-48BF-B2BF-3ADAF840DD91}" type="slidenum">
              <a:rPr lang="en-US" smtClean="0"/>
              <a:t>1</a:t>
            </a:fld>
            <a:endParaRPr lang="en-US"/>
          </a:p>
        </p:txBody>
      </p:sp>
    </p:spTree>
    <p:extLst>
      <p:ext uri="{BB962C8B-B14F-4D97-AF65-F5344CB8AC3E}">
        <p14:creationId xmlns:p14="http://schemas.microsoft.com/office/powerpoint/2010/main" val="27685471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D82D007B-2D23-25BC-3840-8B44EAE5DA72}"/>
              </a:ext>
            </a:extLst>
          </p:cNvPr>
          <p:cNvSpPr>
            <a:spLocks noGrp="1"/>
          </p:cNvSpPr>
          <p:nvPr>
            <p:ph type="ctrTitle"/>
          </p:nvPr>
        </p:nvSpPr>
        <p:spPr>
          <a:xfrm>
            <a:off x="944880" y="2836506"/>
            <a:ext cx="9598712" cy="1942536"/>
          </a:xfrm>
        </p:spPr>
        <p:txBody>
          <a:bodyPr anchor="b">
            <a:normAutofit/>
          </a:bodyPr>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AD05245-A962-B22A-4DDB-C3B335E6454A}"/>
              </a:ext>
            </a:extLst>
          </p:cNvPr>
          <p:cNvSpPr>
            <a:spLocks noGrp="1"/>
          </p:cNvSpPr>
          <p:nvPr>
            <p:ph type="subTitle" idx="1"/>
          </p:nvPr>
        </p:nvSpPr>
        <p:spPr>
          <a:xfrm>
            <a:off x="944880" y="5108704"/>
            <a:ext cx="9144000" cy="605502"/>
          </a:xfrm>
        </p:spPr>
        <p:txBody>
          <a:bodyPr>
            <a:normAutofit/>
          </a:bodyPr>
          <a:lstStyle>
            <a:lvl1pPr marL="0" indent="0" algn="l">
              <a:buNone/>
              <a:defRPr sz="36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4880" y="1041399"/>
            <a:ext cx="3151259" cy="686813"/>
          </a:xfrm>
          <a:prstGeom prst="rect">
            <a:avLst/>
          </a:prstGeom>
        </p:spPr>
      </p:pic>
      <p:pic>
        <p:nvPicPr>
          <p:cNvPr id="6" name="Picture 5">
            <a:extLst>
              <a:ext uri="{FF2B5EF4-FFF2-40B4-BE49-F238E27FC236}">
                <a16:creationId xmlns:a16="http://schemas.microsoft.com/office/drawing/2014/main" id="{AC26ABD9-40D7-AA22-F0C1-650D3C21A1D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4880" y="6334744"/>
            <a:ext cx="1725318" cy="365792"/>
          </a:xfrm>
          <a:prstGeom prst="rect">
            <a:avLst/>
          </a:prstGeom>
        </p:spPr>
      </p:pic>
    </p:spTree>
    <p:extLst>
      <p:ext uri="{BB962C8B-B14F-4D97-AF65-F5344CB8AC3E}">
        <p14:creationId xmlns:p14="http://schemas.microsoft.com/office/powerpoint/2010/main" val="1716759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8D5A62-614B-2D12-4D2F-EBF4440B03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303836C-3920-B8E1-6601-C5C5446BEA1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07DDB8D-FC27-13BF-343B-91B6E648E7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837FC482-F850-8020-F4D8-5B9804E9BE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4641A13F-9C9A-7798-CC1C-CE523E7B96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178AA40A-965E-4A63-9800-522E13EEDAAE}"/>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pic>
        <p:nvPicPr>
          <p:cNvPr id="7" name="Picture 6">
            <a:extLst>
              <a:ext uri="{FF2B5EF4-FFF2-40B4-BE49-F238E27FC236}">
                <a16:creationId xmlns:a16="http://schemas.microsoft.com/office/drawing/2014/main" id="{4180655E-9533-1F3E-EE1F-400B7CC42A23}"/>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rcRect t="911" r="25323" b="911"/>
          <a:stretch/>
        </p:blipFill>
        <p:spPr>
          <a:xfrm>
            <a:off x="0" y="0"/>
            <a:ext cx="12164007" cy="6858000"/>
          </a:xfrm>
          <a:prstGeom prst="rect">
            <a:avLst/>
          </a:prstGeom>
        </p:spPr>
      </p:pic>
      <p:sp>
        <p:nvSpPr>
          <p:cNvPr id="9" name="Rectangle 8">
            <a:extLst>
              <a:ext uri="{FF2B5EF4-FFF2-40B4-BE49-F238E27FC236}">
                <a16:creationId xmlns:a16="http://schemas.microsoft.com/office/drawing/2014/main" id="{B0563A23-3EFF-38EB-A383-397C48DB7BBD}"/>
              </a:ext>
            </a:extLst>
          </p:cNvPr>
          <p:cNvSpPr/>
          <p:nvPr userDrawn="1"/>
        </p:nvSpPr>
        <p:spPr>
          <a:xfrm>
            <a:off x="0" y="0"/>
            <a:ext cx="346364" cy="4219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A32BE1-F42E-110C-83BF-0ACBAA7288E6}"/>
              </a:ext>
            </a:extLst>
          </p:cNvPr>
          <p:cNvSpPr/>
          <p:nvPr userDrawn="1"/>
        </p:nvSpPr>
        <p:spPr>
          <a:xfrm>
            <a:off x="0" y="4219720"/>
            <a:ext cx="346364" cy="26382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06C126F-E72F-28EC-ED77-1AAD54999D83}"/>
              </a:ext>
            </a:extLst>
          </p:cNvPr>
          <p:cNvCxnSpPr/>
          <p:nvPr userDrawn="1"/>
        </p:nvCxnSpPr>
        <p:spPr>
          <a:xfrm>
            <a:off x="914400" y="6280030"/>
            <a:ext cx="1863306"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435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5CB1EB-93F5-153E-4764-E6319385D9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094E9C18-36D4-1EE7-007E-6520B516FDCB}"/>
              </a:ext>
            </a:extLst>
          </p:cNvPr>
          <p:cNvSpPr>
            <a:spLocks noGrp="1"/>
          </p:cNvSpPr>
          <p:nvPr>
            <p:ph type="title"/>
          </p:nvPr>
        </p:nvSpPr>
        <p:spPr>
          <a:xfrm>
            <a:off x="831850" y="1709738"/>
            <a:ext cx="10515600" cy="2852737"/>
          </a:xfrm>
        </p:spPr>
        <p:txBody>
          <a:bodyPr anchor="b"/>
          <a:lstStyle>
            <a:lvl1pPr>
              <a:defRPr sz="600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2F4AB9D-F129-1D0A-3F18-30A01E3CCC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9D8542C-570A-B982-EE49-D7BE0A03C9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79EF8714-2E62-9E33-0635-B316E158ECA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56914BD-BC5D-E404-E474-87D0704C84E1}"/>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1595868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17A5C9C-15EB-E01C-A21A-71D8E8B7B4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27D6001B-3DD9-17F0-8DD5-9C726E119CB1}"/>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0DF940-4841-13C0-050D-C893010CE0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A22BF0-4C09-EE31-F1E7-CE5F45A8AA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A4F9AE5F-CE26-D80C-F042-86377F8A6D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7" name="Graphic 6">
            <a:extLst>
              <a:ext uri="{FF2B5EF4-FFF2-40B4-BE49-F238E27FC236}">
                <a16:creationId xmlns:a16="http://schemas.microsoft.com/office/drawing/2014/main" id="{622AC294-F3E3-1F24-5352-81AB4060EBF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68E6FF1-74DD-DB97-8000-750655DC310A}"/>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19039341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D3521FE-8074-3AEE-08BB-863228D4A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5B4051E9-43BD-C793-F812-C8B2D5C7511A}"/>
              </a:ext>
            </a:extLst>
          </p:cNvPr>
          <p:cNvSpPr>
            <a:spLocks noGrp="1"/>
          </p:cNvSpPr>
          <p:nvPr>
            <p:ph type="title"/>
          </p:nvPr>
        </p:nvSpPr>
        <p:spPr>
          <a:xfrm>
            <a:off x="839788" y="365125"/>
            <a:ext cx="10515600" cy="1325563"/>
          </a:xfrm>
        </p:spPr>
        <p:txBody>
          <a:bodyPr/>
          <a:lstStyle>
            <a:lvl1pPr>
              <a:defRPr>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70F60C-4123-6B76-0C69-9257E0884C80}"/>
              </a:ext>
            </a:extLst>
          </p:cNvPr>
          <p:cNvSpPr>
            <a:spLocks noGrp="1"/>
          </p:cNvSpPr>
          <p:nvPr>
            <p:ph type="body" idx="1"/>
          </p:nvPr>
        </p:nvSpPr>
        <p:spPr>
          <a:xfrm>
            <a:off x="839788" y="1681163"/>
            <a:ext cx="5157787"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28564-DC70-E696-0B34-9B756C5B4D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1411CD-ADCF-8C75-C21B-9C8189CDDC58}"/>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A3D30F-8257-0773-224C-A80FD7DCC3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784CB09F-AA67-425D-8664-92FF321FB4E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8" name="Graphic 7">
            <a:extLst>
              <a:ext uri="{FF2B5EF4-FFF2-40B4-BE49-F238E27FC236}">
                <a16:creationId xmlns:a16="http://schemas.microsoft.com/office/drawing/2014/main" id="{D9773CB4-AA79-2B87-C13D-416A1743F26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9" name="Slide Number Placeholder 5">
            <a:extLst>
              <a:ext uri="{FF2B5EF4-FFF2-40B4-BE49-F238E27FC236}">
                <a16:creationId xmlns:a16="http://schemas.microsoft.com/office/drawing/2014/main" id="{951C8CC7-5103-852D-2638-5633A716F9E0}"/>
              </a:ext>
            </a:extLst>
          </p:cNvPr>
          <p:cNvSpPr>
            <a:spLocks noGrp="1"/>
          </p:cNvSpPr>
          <p:nvPr>
            <p:ph type="sldNum" sz="quarter" idx="10"/>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57241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C190A96-BFCE-EFBD-CCDA-D7646C83B4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D80C1EC-5C4F-4BB4-1D23-1BB6D97E2B04}"/>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2ACC1866-2580-DF83-1482-67DBCC2EA1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4" name="Graphic 3">
            <a:extLst>
              <a:ext uri="{FF2B5EF4-FFF2-40B4-BE49-F238E27FC236}">
                <a16:creationId xmlns:a16="http://schemas.microsoft.com/office/drawing/2014/main" id="{06928A15-0FAE-3D7A-BE88-D42ED256BE3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03D672C-222C-01AE-E0B6-93D6FE1ABD79}"/>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5600925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B72897-6F99-23F4-62FA-97B44DE86C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pic>
        <p:nvPicPr>
          <p:cNvPr id="2" name="Picture 1">
            <a:extLst>
              <a:ext uri="{FF2B5EF4-FFF2-40B4-BE49-F238E27FC236}">
                <a16:creationId xmlns:a16="http://schemas.microsoft.com/office/drawing/2014/main" id="{1B4B1E94-09C1-BD0F-9C7D-EA10237B86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3" name="Graphic 2">
            <a:extLst>
              <a:ext uri="{FF2B5EF4-FFF2-40B4-BE49-F238E27FC236}">
                <a16:creationId xmlns:a16="http://schemas.microsoft.com/office/drawing/2014/main" id="{12804975-758F-47E4-93AA-69CA818075B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4" name="Slide Number Placeholder 5">
            <a:extLst>
              <a:ext uri="{FF2B5EF4-FFF2-40B4-BE49-F238E27FC236}">
                <a16:creationId xmlns:a16="http://schemas.microsoft.com/office/drawing/2014/main" id="{E3EE3F8D-94C6-6090-7F45-0140F68D96F7}"/>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8090301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A1E715-A3C2-1062-72BA-AA6101EFDB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3C33B173-896D-3270-D196-9EA3CDED3908}"/>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E64532D-27C9-84A8-A21E-F55F54262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009652A-3B8E-D6FE-0C51-AD79BCB11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FA6FED96-33F4-AE85-1943-38B458CA6CC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76CCEDC5-EC77-FE15-57BB-7AAC4B53333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D09DCED4-9B61-CDC1-9F25-4418EED76E26}"/>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20673393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F93E89-EC43-508C-91D2-FE01949F0ED8}"/>
              </a:ext>
            </a:extLst>
          </p:cNvPr>
          <p:cNvSpPr/>
          <p:nvPr userDrawn="1"/>
        </p:nvSpPr>
        <p:spPr>
          <a:xfrm>
            <a:off x="5076825" y="885825"/>
            <a:ext cx="6275387" cy="498316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EC8168B-13D2-605D-EF13-8460F43410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0864C21-F58A-694E-BDDF-DDA23E0F92EA}"/>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B5008F3-14EF-C275-5009-54A6C0948E96}"/>
              </a:ext>
            </a:extLst>
          </p:cNvPr>
          <p:cNvSpPr>
            <a:spLocks noGrp="1"/>
          </p:cNvSpPr>
          <p:nvPr>
            <p:ph type="pic" idx="1"/>
          </p:nvPr>
        </p:nvSpPr>
        <p:spPr>
          <a:xfrm>
            <a:off x="5183188" y="987426"/>
            <a:ext cx="6065837" cy="4737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9828B4C-F206-DE18-A860-B2259AF8DF8F}"/>
              </a:ext>
            </a:extLst>
          </p:cNvPr>
          <p:cNvSpPr>
            <a:spLocks noGrp="1"/>
          </p:cNvSpPr>
          <p:nvPr>
            <p:ph type="body" sz="half" idx="2"/>
          </p:nvPr>
        </p:nvSpPr>
        <p:spPr>
          <a:xfrm>
            <a:off x="839788" y="1578718"/>
            <a:ext cx="3932237" cy="429026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1050AA15-91AB-ED53-47E2-7B26433444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6C2B2FDC-3E39-80E3-47A9-F14E0B22DB6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FA1E7417-7698-6DAD-F799-E94ADF9A91E0}"/>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9561208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68AD05-1982-0DF0-DB84-69992E3B47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D0D3381-9A33-CDE6-A465-39D508AD737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9A21791-0209-93DE-4383-04DAF66454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A507BB1-3659-8D23-FA89-EA4F4D60D67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DA12D315-2DC9-AE52-4820-DBFE1FD82AA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E0BA133-188F-1018-3011-9894D2759E33}"/>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2703659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6172AF-7DA8-B4AB-77FD-93C3CDDBF7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Vertical Title 1">
            <a:extLst>
              <a:ext uri="{FF2B5EF4-FFF2-40B4-BE49-F238E27FC236}">
                <a16:creationId xmlns:a16="http://schemas.microsoft.com/office/drawing/2014/main" id="{80514317-5D4A-3C1D-4027-E4A77FCE8B28}"/>
              </a:ext>
            </a:extLst>
          </p:cNvPr>
          <p:cNvSpPr>
            <a:spLocks noGrp="1"/>
          </p:cNvSpPr>
          <p:nvPr>
            <p:ph type="title" orient="vert"/>
          </p:nvPr>
        </p:nvSpPr>
        <p:spPr>
          <a:xfrm>
            <a:off x="8724900" y="365125"/>
            <a:ext cx="2628900" cy="5811838"/>
          </a:xfrm>
        </p:spPr>
        <p:txBody>
          <a:bodyPr vert="eaVert"/>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4BE6995-F9A4-0689-FA08-AC65CBECF2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04AF2B0-44DA-FC23-665D-75C23412D4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1EBA1BCB-5D76-4F42-E4D9-407309BC6F3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A9CA00D-4A52-8A7A-BE74-13E98B5DA635}"/>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4118767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hidden="1">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4796"/>
            <a:ext cx="12192000" cy="6857998"/>
          </a:xfrm>
          <a:prstGeom prst="rect">
            <a:avLst/>
          </a:prstGeom>
        </p:spPr>
      </p:pic>
      <p:pic>
        <p:nvPicPr>
          <p:cNvPr id="19" name="Graphic 18">
            <a:extLst>
              <a:ext uri="{FF2B5EF4-FFF2-40B4-BE49-F238E27FC236}">
                <a16:creationId xmlns:a16="http://schemas.microsoft.com/office/drawing/2014/main" id="{1C00A59F-5699-FFEC-05E4-084B9D01F5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2362" y="3032254"/>
            <a:ext cx="342035" cy="376238"/>
          </a:xfrm>
          <a:prstGeom prst="rect">
            <a:avLst/>
          </a:prstGeom>
        </p:spPr>
      </p:pic>
      <p:pic>
        <p:nvPicPr>
          <p:cNvPr id="21" name="Graphic 20">
            <a:extLst>
              <a:ext uri="{FF2B5EF4-FFF2-40B4-BE49-F238E27FC236}">
                <a16:creationId xmlns:a16="http://schemas.microsoft.com/office/drawing/2014/main" id="{572AEE09-A5AD-AA06-48E6-898E033BA94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9779" y="3926565"/>
            <a:ext cx="307200" cy="384000"/>
          </a:xfrm>
          <a:prstGeom prst="rect">
            <a:avLst/>
          </a:prstGeom>
        </p:spPr>
      </p:pic>
      <p:pic>
        <p:nvPicPr>
          <p:cNvPr id="23" name="Graphic 22">
            <a:extLst>
              <a:ext uri="{FF2B5EF4-FFF2-40B4-BE49-F238E27FC236}">
                <a16:creationId xmlns:a16="http://schemas.microsoft.com/office/drawing/2014/main" id="{A01C56E0-4FF4-A49E-65BE-5A1BF232E4D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60775" y="4758611"/>
            <a:ext cx="405209" cy="405209"/>
          </a:xfrm>
          <a:prstGeom prst="rect">
            <a:avLst/>
          </a:prstGeom>
        </p:spPr>
      </p:pic>
      <p:pic>
        <p:nvPicPr>
          <p:cNvPr id="27" name="Graphic 26">
            <a:extLst>
              <a:ext uri="{FF2B5EF4-FFF2-40B4-BE49-F238E27FC236}">
                <a16:creationId xmlns:a16="http://schemas.microsoft.com/office/drawing/2014/main" id="{CDEF55D3-82EA-2BAF-B8BF-6C8795BCED9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09779" y="5676372"/>
            <a:ext cx="3172854" cy="376042"/>
          </a:xfrm>
          <a:prstGeom prst="rect">
            <a:avLst/>
          </a:prstGeom>
        </p:spPr>
      </p:pic>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44880" y="1041399"/>
            <a:ext cx="4760571" cy="1037560"/>
          </a:xfrm>
          <a:prstGeom prst="rect">
            <a:avLst/>
          </a:prstGeom>
        </p:spPr>
      </p:pic>
      <p:sp>
        <p:nvSpPr>
          <p:cNvPr id="6" name="Subtitle 2">
            <a:extLst>
              <a:ext uri="{FF2B5EF4-FFF2-40B4-BE49-F238E27FC236}">
                <a16:creationId xmlns:a16="http://schemas.microsoft.com/office/drawing/2014/main" id="{659A0B0B-6155-1E7E-4087-A0497CBDBD27}"/>
              </a:ext>
            </a:extLst>
          </p:cNvPr>
          <p:cNvSpPr txBox="1">
            <a:spLocks/>
          </p:cNvSpPr>
          <p:nvPr userDrawn="1"/>
        </p:nvSpPr>
        <p:spPr>
          <a:xfrm>
            <a:off x="1628774" y="3921043"/>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0731 3111500, 0731 3111501 </a:t>
            </a:r>
          </a:p>
        </p:txBody>
      </p:sp>
      <p:sp>
        <p:nvSpPr>
          <p:cNvPr id="7" name="Subtitle 2">
            <a:extLst>
              <a:ext uri="{FF2B5EF4-FFF2-40B4-BE49-F238E27FC236}">
                <a16:creationId xmlns:a16="http://schemas.microsoft.com/office/drawing/2014/main" id="{AC9BAA4C-4941-92F4-0508-9A086B1782D0}"/>
              </a:ext>
            </a:extLst>
          </p:cNvPr>
          <p:cNvSpPr txBox="1">
            <a:spLocks/>
          </p:cNvSpPr>
          <p:nvPr userDrawn="1"/>
        </p:nvSpPr>
        <p:spPr>
          <a:xfrm>
            <a:off x="1628774" y="4797553"/>
            <a:ext cx="8407400" cy="405209"/>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www.medicaps.ac.in</a:t>
            </a:r>
          </a:p>
        </p:txBody>
      </p:sp>
      <p:sp>
        <p:nvSpPr>
          <p:cNvPr id="28" name="Subtitle 2">
            <a:extLst>
              <a:ext uri="{FF2B5EF4-FFF2-40B4-BE49-F238E27FC236}">
                <a16:creationId xmlns:a16="http://schemas.microsoft.com/office/drawing/2014/main" id="{A505A0EF-09C3-A69E-1757-50EC79E03CA8}"/>
              </a:ext>
            </a:extLst>
          </p:cNvPr>
          <p:cNvSpPr txBox="1">
            <a:spLocks/>
          </p:cNvSpPr>
          <p:nvPr userDrawn="1"/>
        </p:nvSpPr>
        <p:spPr>
          <a:xfrm>
            <a:off x="1628774" y="3030245"/>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A.B. Road, </a:t>
            </a:r>
            <a:r>
              <a:rPr lang="en-US" dirty="0" err="1">
                <a:solidFill>
                  <a:schemeClr val="tx1"/>
                </a:solidFill>
              </a:rPr>
              <a:t>Pigdamber</a:t>
            </a:r>
            <a:r>
              <a:rPr lang="en-US" dirty="0">
                <a:solidFill>
                  <a:schemeClr val="tx1"/>
                </a:solidFill>
              </a:rPr>
              <a:t>, Rau, Indore – 453331 </a:t>
            </a:r>
          </a:p>
        </p:txBody>
      </p:sp>
    </p:spTree>
    <p:extLst>
      <p:ext uri="{BB962C8B-B14F-4D97-AF65-F5344CB8AC3E}">
        <p14:creationId xmlns:p14="http://schemas.microsoft.com/office/powerpoint/2010/main" val="1682911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2AB9EE-315E-A59D-7C69-7297198BEC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CD9C6-79F7-5E4F-5997-18FD9FB86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86A633-AE6E-E900-F6C6-2A97DCD18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7FF33C2-41D7-CC19-A386-62E89AE35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EF264C-5B54-0AB1-A4A1-B9DE1C365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599A10-5031-416A-8935-40C3BCBA0AF7}" type="slidenum">
              <a:rPr lang="en-US" smtClean="0"/>
              <a:t>‹#›</a:t>
            </a:fld>
            <a:endParaRPr lang="en-US"/>
          </a:p>
        </p:txBody>
      </p:sp>
    </p:spTree>
    <p:extLst>
      <p:ext uri="{BB962C8B-B14F-4D97-AF65-F5344CB8AC3E}">
        <p14:creationId xmlns:p14="http://schemas.microsoft.com/office/powerpoint/2010/main" val="1043216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mailto:en23it301064@medicaps.ac.i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047D-7384-7188-237B-A0D05A2053FC}"/>
              </a:ext>
            </a:extLst>
          </p:cNvPr>
          <p:cNvSpPr>
            <a:spLocks noGrp="1"/>
          </p:cNvSpPr>
          <p:nvPr>
            <p:ph type="ctrTitle"/>
          </p:nvPr>
        </p:nvSpPr>
        <p:spPr>
          <a:xfrm>
            <a:off x="944880" y="2019381"/>
            <a:ext cx="5624008" cy="872671"/>
          </a:xfrm>
        </p:spPr>
        <p:txBody>
          <a:bodyPr>
            <a:normAutofit fontScale="90000"/>
          </a:bodyPr>
          <a:lstStyle/>
          <a:p>
            <a:r>
              <a:rPr lang="en-US" dirty="0" err="1"/>
              <a:t>Expancify</a:t>
            </a:r>
            <a:endParaRPr lang="en-US" dirty="0"/>
          </a:p>
        </p:txBody>
      </p:sp>
      <p:sp>
        <p:nvSpPr>
          <p:cNvPr id="3" name="Subtitle 2">
            <a:extLst>
              <a:ext uri="{FF2B5EF4-FFF2-40B4-BE49-F238E27FC236}">
                <a16:creationId xmlns:a16="http://schemas.microsoft.com/office/drawing/2014/main" id="{6FA028DC-049A-2F5E-A96B-81D104E86BBE}"/>
              </a:ext>
            </a:extLst>
          </p:cNvPr>
          <p:cNvSpPr>
            <a:spLocks noGrp="1"/>
          </p:cNvSpPr>
          <p:nvPr>
            <p:ph type="subTitle" idx="1"/>
          </p:nvPr>
        </p:nvSpPr>
        <p:spPr>
          <a:xfrm>
            <a:off x="944880" y="3013896"/>
            <a:ext cx="9144000" cy="605502"/>
          </a:xfrm>
        </p:spPr>
        <p:txBody>
          <a:bodyPr/>
          <a:lstStyle/>
          <a:p>
            <a:r>
              <a:rPr lang="en-IN" dirty="0"/>
              <a:t>AI Powered Expense Tracker</a:t>
            </a:r>
            <a:endParaRPr lang="en-US" dirty="0"/>
          </a:p>
        </p:txBody>
      </p:sp>
      <p:sp>
        <p:nvSpPr>
          <p:cNvPr id="4" name="TextBox 3">
            <a:extLst>
              <a:ext uri="{FF2B5EF4-FFF2-40B4-BE49-F238E27FC236}">
                <a16:creationId xmlns:a16="http://schemas.microsoft.com/office/drawing/2014/main" id="{0CC07E4F-9C42-8ECC-EFAF-7EAAC569F6DD}"/>
              </a:ext>
            </a:extLst>
          </p:cNvPr>
          <p:cNvSpPr txBox="1"/>
          <p:nvPr/>
        </p:nvSpPr>
        <p:spPr>
          <a:xfrm>
            <a:off x="1130532" y="4322618"/>
            <a:ext cx="3384068" cy="646331"/>
          </a:xfrm>
          <a:prstGeom prst="rect">
            <a:avLst/>
          </a:prstGeom>
          <a:noFill/>
        </p:spPr>
        <p:txBody>
          <a:bodyPr wrap="none" rtlCol="0">
            <a:spAutoFit/>
          </a:bodyPr>
          <a:lstStyle/>
          <a:p>
            <a:r>
              <a:rPr lang="en-US" sz="3600" dirty="0">
                <a:solidFill>
                  <a:schemeClr val="bg1"/>
                </a:solidFill>
              </a:rPr>
              <a:t>Kunal Choudhary</a:t>
            </a:r>
            <a:endParaRPr lang="en-IN" sz="3600" dirty="0">
              <a:solidFill>
                <a:schemeClr val="bg1"/>
              </a:solidFill>
            </a:endParaRPr>
          </a:p>
        </p:txBody>
      </p:sp>
      <p:sp>
        <p:nvSpPr>
          <p:cNvPr id="5" name="TextBox 4">
            <a:extLst>
              <a:ext uri="{FF2B5EF4-FFF2-40B4-BE49-F238E27FC236}">
                <a16:creationId xmlns:a16="http://schemas.microsoft.com/office/drawing/2014/main" id="{301044A2-A7F8-37FA-B950-A444BE428B42}"/>
              </a:ext>
            </a:extLst>
          </p:cNvPr>
          <p:cNvSpPr txBox="1"/>
          <p:nvPr/>
        </p:nvSpPr>
        <p:spPr>
          <a:xfrm>
            <a:off x="1130532" y="4968949"/>
            <a:ext cx="3292629" cy="646331"/>
          </a:xfrm>
          <a:prstGeom prst="rect">
            <a:avLst/>
          </a:prstGeom>
          <a:noFill/>
        </p:spPr>
        <p:txBody>
          <a:bodyPr wrap="square" rtlCol="0">
            <a:spAutoFit/>
          </a:bodyPr>
          <a:lstStyle/>
          <a:p>
            <a:r>
              <a:rPr lang="en-US" sz="3600" dirty="0">
                <a:solidFill>
                  <a:schemeClr val="bg1"/>
                </a:solidFill>
              </a:rPr>
              <a:t>EN23IT301064</a:t>
            </a:r>
            <a:endParaRPr lang="en-IN" sz="3600" dirty="0">
              <a:solidFill>
                <a:schemeClr val="bg1"/>
              </a:solidFill>
            </a:endParaRPr>
          </a:p>
        </p:txBody>
      </p:sp>
      <p:sp>
        <p:nvSpPr>
          <p:cNvPr id="7" name="TextBox 6">
            <a:extLst>
              <a:ext uri="{FF2B5EF4-FFF2-40B4-BE49-F238E27FC236}">
                <a16:creationId xmlns:a16="http://schemas.microsoft.com/office/drawing/2014/main" id="{F361617F-0669-8735-5A2F-745F6736ED21}"/>
              </a:ext>
            </a:extLst>
          </p:cNvPr>
          <p:cNvSpPr txBox="1"/>
          <p:nvPr/>
        </p:nvSpPr>
        <p:spPr>
          <a:xfrm>
            <a:off x="7558463" y="4322618"/>
            <a:ext cx="3119505" cy="1200329"/>
          </a:xfrm>
          <a:prstGeom prst="rect">
            <a:avLst/>
          </a:prstGeom>
          <a:noFill/>
        </p:spPr>
        <p:txBody>
          <a:bodyPr wrap="square">
            <a:spAutoFit/>
          </a:bodyPr>
          <a:lstStyle/>
          <a:p>
            <a:r>
              <a:rPr lang="en-US" sz="3600" dirty="0">
                <a:solidFill>
                  <a:schemeClr val="bg1"/>
                </a:solidFill>
              </a:rPr>
              <a:t>Dinesh Kumar </a:t>
            </a:r>
            <a:r>
              <a:rPr lang="en-US" sz="3600" dirty="0" err="1">
                <a:solidFill>
                  <a:schemeClr val="bg1"/>
                </a:solidFill>
              </a:rPr>
              <a:t>Bhayal</a:t>
            </a:r>
            <a:endParaRPr lang="en-IN" sz="3600" dirty="0">
              <a:solidFill>
                <a:schemeClr val="bg1"/>
              </a:solidFill>
            </a:endParaRPr>
          </a:p>
        </p:txBody>
      </p:sp>
      <p:sp>
        <p:nvSpPr>
          <p:cNvPr id="8" name="TextBox 7">
            <a:extLst>
              <a:ext uri="{FF2B5EF4-FFF2-40B4-BE49-F238E27FC236}">
                <a16:creationId xmlns:a16="http://schemas.microsoft.com/office/drawing/2014/main" id="{BD5A7B33-87C9-8259-320F-56286403561B}"/>
              </a:ext>
            </a:extLst>
          </p:cNvPr>
          <p:cNvSpPr txBox="1"/>
          <p:nvPr/>
        </p:nvSpPr>
        <p:spPr>
          <a:xfrm>
            <a:off x="1130531" y="3924841"/>
            <a:ext cx="3480648" cy="523220"/>
          </a:xfrm>
          <a:prstGeom prst="rect">
            <a:avLst/>
          </a:prstGeom>
          <a:noFill/>
        </p:spPr>
        <p:txBody>
          <a:bodyPr wrap="square" rtlCol="0">
            <a:spAutoFit/>
          </a:bodyPr>
          <a:lstStyle/>
          <a:p>
            <a:r>
              <a:rPr lang="en-US" sz="2800" dirty="0">
                <a:solidFill>
                  <a:schemeClr val="bg1"/>
                </a:solidFill>
              </a:rPr>
              <a:t>Submitted By</a:t>
            </a:r>
            <a:endParaRPr lang="en-IN" sz="2800" dirty="0">
              <a:solidFill>
                <a:schemeClr val="bg1"/>
              </a:solidFill>
            </a:endParaRPr>
          </a:p>
        </p:txBody>
      </p:sp>
      <p:sp>
        <p:nvSpPr>
          <p:cNvPr id="9" name="TextBox 8">
            <a:extLst>
              <a:ext uri="{FF2B5EF4-FFF2-40B4-BE49-F238E27FC236}">
                <a16:creationId xmlns:a16="http://schemas.microsoft.com/office/drawing/2014/main" id="{D76F8E44-1022-B0AC-7E56-898474F6B913}"/>
              </a:ext>
            </a:extLst>
          </p:cNvPr>
          <p:cNvSpPr txBox="1"/>
          <p:nvPr/>
        </p:nvSpPr>
        <p:spPr>
          <a:xfrm>
            <a:off x="7580822" y="3886744"/>
            <a:ext cx="3480648" cy="523220"/>
          </a:xfrm>
          <a:prstGeom prst="rect">
            <a:avLst/>
          </a:prstGeom>
          <a:noFill/>
        </p:spPr>
        <p:txBody>
          <a:bodyPr wrap="square" rtlCol="0">
            <a:spAutoFit/>
          </a:bodyPr>
          <a:lstStyle/>
          <a:p>
            <a:r>
              <a:rPr lang="en-US" sz="2800" dirty="0">
                <a:solidFill>
                  <a:schemeClr val="bg1"/>
                </a:solidFill>
              </a:rPr>
              <a:t>Submitted To</a:t>
            </a:r>
            <a:endParaRPr lang="en-IN" sz="2800" dirty="0">
              <a:solidFill>
                <a:schemeClr val="bg1"/>
              </a:solidFill>
            </a:endParaRPr>
          </a:p>
        </p:txBody>
      </p:sp>
    </p:spTree>
    <p:extLst>
      <p:ext uri="{BB962C8B-B14F-4D97-AF65-F5344CB8AC3E}">
        <p14:creationId xmlns:p14="http://schemas.microsoft.com/office/powerpoint/2010/main" val="340459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89BED-9991-4511-8E56-B840D096B3AF}"/>
              </a:ext>
            </a:extLst>
          </p:cNvPr>
          <p:cNvSpPr>
            <a:spLocks noGrp="1"/>
          </p:cNvSpPr>
          <p:nvPr>
            <p:ph type="title"/>
          </p:nvPr>
        </p:nvSpPr>
        <p:spPr/>
        <p:txBody>
          <a:bodyPr>
            <a:normAutofit/>
          </a:bodyPr>
          <a:lstStyle/>
          <a:p>
            <a:r>
              <a:rPr lang="en-IN" sz="3600" dirty="0"/>
              <a:t>Introduction</a:t>
            </a:r>
            <a:endParaRPr lang="en-US" sz="3600" dirty="0"/>
          </a:p>
        </p:txBody>
      </p:sp>
      <p:sp>
        <p:nvSpPr>
          <p:cNvPr id="3" name="Content Placeholder 2">
            <a:extLst>
              <a:ext uri="{FF2B5EF4-FFF2-40B4-BE49-F238E27FC236}">
                <a16:creationId xmlns:a16="http://schemas.microsoft.com/office/drawing/2014/main" id="{5BCF0D38-FA68-09E4-0AA7-0D1685591CD9}"/>
              </a:ext>
            </a:extLst>
          </p:cNvPr>
          <p:cNvSpPr>
            <a:spLocks noGrp="1"/>
          </p:cNvSpPr>
          <p:nvPr>
            <p:ph idx="1"/>
          </p:nvPr>
        </p:nvSpPr>
        <p:spPr/>
        <p:txBody>
          <a:bodyPr>
            <a:normAutofit/>
          </a:bodyPr>
          <a:lstStyle/>
          <a:p>
            <a:pPr marL="0" indent="0">
              <a:buNone/>
            </a:pPr>
            <a:r>
              <a:rPr lang="en-US" sz="2500" dirty="0" err="1"/>
              <a:t>Expancify</a:t>
            </a:r>
            <a:r>
              <a:rPr lang="en-US" sz="2500" dirty="0"/>
              <a:t> is a smart expense tracking web application that helps users manage their daily expenses in an organized and efficient way. Users can manually add, update, and track their expenses through a simple interface. The system also supports sharing and managing expenses with roommates, making it easier to handle group spending and balance distribution. Additionally, </a:t>
            </a:r>
            <a:r>
              <a:rPr lang="en-US" sz="2500" dirty="0" err="1"/>
              <a:t>Expancify</a:t>
            </a:r>
            <a:r>
              <a:rPr lang="en-US" sz="2500" dirty="0"/>
              <a:t> includes an AI dashboard that analyzes expense data to generate reports, identify unnecessary expenses, and provide smart suggestions to improve financial habits.</a:t>
            </a:r>
          </a:p>
          <a:p>
            <a:pPr marL="0" indent="0">
              <a:buNone/>
            </a:pPr>
            <a:endParaRPr lang="en-US" sz="2500" dirty="0"/>
          </a:p>
          <a:p>
            <a:pPr marL="0" indent="0">
              <a:buNone/>
            </a:pPr>
            <a:r>
              <a:rPr lang="en-US" sz="2500" dirty="0"/>
              <a:t>The application  uses AI to analyze spending patterns and identify unnecessary expenses, helping users improve their financial habits.</a:t>
            </a:r>
          </a:p>
          <a:p>
            <a:pPr marL="0" indent="0">
              <a:buNone/>
            </a:pPr>
            <a:endParaRPr lang="en-US" sz="2500" dirty="0"/>
          </a:p>
          <a:p>
            <a:pPr marL="0" indent="0">
              <a:buNone/>
            </a:pPr>
            <a:endParaRPr lang="en-US" sz="2500" dirty="0"/>
          </a:p>
        </p:txBody>
      </p:sp>
      <p:sp>
        <p:nvSpPr>
          <p:cNvPr id="4" name="Slide Number Placeholder 3">
            <a:extLst>
              <a:ext uri="{FF2B5EF4-FFF2-40B4-BE49-F238E27FC236}">
                <a16:creationId xmlns:a16="http://schemas.microsoft.com/office/drawing/2014/main" id="{20049E90-393B-0DDA-3FCB-DE78D4A64CF7}"/>
              </a:ext>
            </a:extLst>
          </p:cNvPr>
          <p:cNvSpPr>
            <a:spLocks noGrp="1"/>
          </p:cNvSpPr>
          <p:nvPr>
            <p:ph type="sldNum" sz="quarter" idx="4"/>
          </p:nvPr>
        </p:nvSpPr>
        <p:spPr/>
        <p:txBody>
          <a:bodyPr/>
          <a:lstStyle/>
          <a:p>
            <a:fld id="{94599A10-5031-416A-8935-40C3BCBA0AF7}" type="slidenum">
              <a:rPr lang="en-US" smtClean="0"/>
              <a:pPr/>
              <a:t>2</a:t>
            </a:fld>
            <a:endParaRPr lang="en-US" dirty="0"/>
          </a:p>
        </p:txBody>
      </p:sp>
      <p:cxnSp>
        <p:nvCxnSpPr>
          <p:cNvPr id="11" name="Straight Connector 10">
            <a:extLst>
              <a:ext uri="{FF2B5EF4-FFF2-40B4-BE49-F238E27FC236}">
                <a16:creationId xmlns:a16="http://schemas.microsoft.com/office/drawing/2014/main" id="{2959084E-2A94-93E2-EDDE-32EACBF01643}"/>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6745F0-24AC-C1FC-FD2F-9E8515345474}"/>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980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7A31D-4DE5-8F69-503B-249C007B6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9375B-2534-304A-7D8C-E82799F31625}"/>
              </a:ext>
            </a:extLst>
          </p:cNvPr>
          <p:cNvSpPr>
            <a:spLocks noGrp="1"/>
          </p:cNvSpPr>
          <p:nvPr>
            <p:ph type="title"/>
          </p:nvPr>
        </p:nvSpPr>
        <p:spPr/>
        <p:txBody>
          <a:bodyPr>
            <a:normAutofit/>
          </a:bodyPr>
          <a:lstStyle/>
          <a:p>
            <a:r>
              <a:rPr lang="en-IN" sz="3600" dirty="0"/>
              <a:t>Objectives </a:t>
            </a:r>
            <a:endParaRPr lang="en-US" sz="3600" dirty="0"/>
          </a:p>
        </p:txBody>
      </p:sp>
      <p:sp>
        <p:nvSpPr>
          <p:cNvPr id="3" name="Content Placeholder 2">
            <a:extLst>
              <a:ext uri="{FF2B5EF4-FFF2-40B4-BE49-F238E27FC236}">
                <a16:creationId xmlns:a16="http://schemas.microsoft.com/office/drawing/2014/main" id="{EDD7ADF3-314D-3F64-4D25-BE54C45467D1}"/>
              </a:ext>
            </a:extLst>
          </p:cNvPr>
          <p:cNvSpPr>
            <a:spLocks noGrp="1"/>
          </p:cNvSpPr>
          <p:nvPr>
            <p:ph idx="1"/>
          </p:nvPr>
        </p:nvSpPr>
        <p:spPr/>
        <p:txBody>
          <a:bodyPr>
            <a:normAutofit/>
          </a:bodyPr>
          <a:lstStyle/>
          <a:p>
            <a:pPr>
              <a:buBlip>
                <a:blip r:embed="rId2"/>
              </a:buBlip>
            </a:pPr>
            <a:r>
              <a:rPr lang="en-US" sz="2500" dirty="0"/>
              <a:t>To develop a user-friendly platform for managing daily expenses efficiently.</a:t>
            </a:r>
          </a:p>
          <a:p>
            <a:pPr>
              <a:buBlip>
                <a:blip r:embed="rId2"/>
              </a:buBlip>
            </a:pPr>
            <a:r>
              <a:rPr lang="en-US" sz="2500" dirty="0"/>
              <a:t>To enable users to manually add, update, and track their expenses.</a:t>
            </a:r>
          </a:p>
          <a:p>
            <a:pPr>
              <a:buBlip>
                <a:blip r:embed="rId2"/>
              </a:buBlip>
            </a:pPr>
            <a:r>
              <a:rPr lang="en-US" sz="2500" dirty="0"/>
              <a:t>To provide a system for sharing and managing expenses with roommates.</a:t>
            </a:r>
          </a:p>
          <a:p>
            <a:pPr>
              <a:buBlip>
                <a:blip r:embed="rId2"/>
              </a:buBlip>
            </a:pPr>
            <a:r>
              <a:rPr lang="en-US" sz="2500" dirty="0"/>
              <a:t>To ensure accurate calculation and distribution of group expenses.</a:t>
            </a:r>
          </a:p>
          <a:p>
            <a:pPr>
              <a:buBlip>
                <a:blip r:embed="rId2"/>
              </a:buBlip>
            </a:pPr>
            <a:r>
              <a:rPr lang="en-US" sz="2500" dirty="0"/>
              <a:t>To integrate an AI dashboard for generating expense reports and insights.</a:t>
            </a:r>
          </a:p>
          <a:p>
            <a:pPr>
              <a:buBlip>
                <a:blip r:embed="rId2"/>
              </a:buBlip>
            </a:pPr>
            <a:r>
              <a:rPr lang="en-US" sz="2500" dirty="0"/>
              <a:t>To identify unnecessary expenses and provide smart financial suggestions.</a:t>
            </a:r>
          </a:p>
          <a:p>
            <a:pPr>
              <a:buBlip>
                <a:blip r:embed="rId2"/>
              </a:buBlip>
            </a:pPr>
            <a:r>
              <a:rPr lang="en-US" sz="2500" dirty="0"/>
              <a:t>To improve users’ financial awareness and decision-making skills.</a:t>
            </a:r>
          </a:p>
          <a:p>
            <a:pPr marL="0" indent="0">
              <a:buNone/>
            </a:pPr>
            <a:endParaRPr lang="en-US" sz="2500" dirty="0"/>
          </a:p>
          <a:p>
            <a:pPr marL="0" indent="0">
              <a:buNone/>
            </a:pPr>
            <a:endParaRPr lang="en-US" sz="2500" dirty="0"/>
          </a:p>
          <a:p>
            <a:pPr marL="0" indent="0">
              <a:buNone/>
            </a:pPr>
            <a:endParaRPr lang="en-US" sz="2500" dirty="0"/>
          </a:p>
          <a:p>
            <a:pPr marL="0" indent="0">
              <a:buNone/>
            </a:pPr>
            <a:endParaRPr lang="en-US" sz="2500" dirty="0"/>
          </a:p>
        </p:txBody>
      </p:sp>
      <p:sp>
        <p:nvSpPr>
          <p:cNvPr id="4" name="Slide Number Placeholder 3">
            <a:extLst>
              <a:ext uri="{FF2B5EF4-FFF2-40B4-BE49-F238E27FC236}">
                <a16:creationId xmlns:a16="http://schemas.microsoft.com/office/drawing/2014/main" id="{36C30EAE-A411-EFB2-DE98-4C280900D010}"/>
              </a:ext>
            </a:extLst>
          </p:cNvPr>
          <p:cNvSpPr>
            <a:spLocks noGrp="1"/>
          </p:cNvSpPr>
          <p:nvPr>
            <p:ph type="sldNum" sz="quarter" idx="4"/>
          </p:nvPr>
        </p:nvSpPr>
        <p:spPr/>
        <p:txBody>
          <a:bodyPr/>
          <a:lstStyle/>
          <a:p>
            <a:fld id="{94599A10-5031-416A-8935-40C3BCBA0AF7}" type="slidenum">
              <a:rPr lang="en-US" smtClean="0"/>
              <a:pPr/>
              <a:t>3</a:t>
            </a:fld>
            <a:endParaRPr lang="en-US" dirty="0"/>
          </a:p>
        </p:txBody>
      </p:sp>
      <p:cxnSp>
        <p:nvCxnSpPr>
          <p:cNvPr id="6" name="Straight Connector 5">
            <a:extLst>
              <a:ext uri="{FF2B5EF4-FFF2-40B4-BE49-F238E27FC236}">
                <a16:creationId xmlns:a16="http://schemas.microsoft.com/office/drawing/2014/main" id="{40B34C24-32D7-F65D-4FFB-A7F109971889}"/>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722F9B2-52E7-86E5-088F-AB3D6B8C5033}"/>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257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C8F5-2145-DEEF-F356-46206CF31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D038C-FF73-339E-268C-262BBED2E9EC}"/>
              </a:ext>
            </a:extLst>
          </p:cNvPr>
          <p:cNvSpPr>
            <a:spLocks noGrp="1"/>
          </p:cNvSpPr>
          <p:nvPr>
            <p:ph type="title"/>
          </p:nvPr>
        </p:nvSpPr>
        <p:spPr/>
        <p:txBody>
          <a:bodyPr>
            <a:normAutofit/>
          </a:bodyPr>
          <a:lstStyle/>
          <a:p>
            <a:r>
              <a:rPr lang="en-IN" sz="3600" dirty="0"/>
              <a:t>Key Points</a:t>
            </a:r>
            <a:endParaRPr lang="en-US" sz="3600" dirty="0"/>
          </a:p>
        </p:txBody>
      </p:sp>
      <p:sp>
        <p:nvSpPr>
          <p:cNvPr id="3" name="Content Placeholder 2">
            <a:extLst>
              <a:ext uri="{FF2B5EF4-FFF2-40B4-BE49-F238E27FC236}">
                <a16:creationId xmlns:a16="http://schemas.microsoft.com/office/drawing/2014/main" id="{A5392523-01BB-3FBC-8D59-67EED1E53216}"/>
              </a:ext>
            </a:extLst>
          </p:cNvPr>
          <p:cNvSpPr>
            <a:spLocks noGrp="1"/>
          </p:cNvSpPr>
          <p:nvPr>
            <p:ph idx="1"/>
          </p:nvPr>
        </p:nvSpPr>
        <p:spPr/>
        <p:txBody>
          <a:bodyPr>
            <a:normAutofit/>
          </a:bodyPr>
          <a:lstStyle/>
          <a:p>
            <a:pPr>
              <a:buBlip>
                <a:blip r:embed="rId2"/>
              </a:buBlip>
            </a:pPr>
            <a:r>
              <a:rPr lang="en-IN" sz="2400" dirty="0"/>
              <a:t>Expense Management</a:t>
            </a:r>
            <a:endParaRPr lang="en-US" sz="2400" dirty="0"/>
          </a:p>
          <a:p>
            <a:pPr>
              <a:buFont typeface="Courier New" panose="02070309020205020404" pitchFamily="49" charset="0"/>
              <a:buChar char="o"/>
            </a:pPr>
            <a:r>
              <a:rPr lang="en-US" sz="2000" dirty="0"/>
              <a:t>Users can manually add, edit, and track their daily expenses.</a:t>
            </a:r>
          </a:p>
          <a:p>
            <a:pPr>
              <a:buFont typeface="Courier New" panose="02070309020205020404" pitchFamily="49" charset="0"/>
              <a:buChar char="o"/>
            </a:pPr>
            <a:r>
              <a:rPr lang="en-IN" sz="2000" dirty="0"/>
              <a:t>Edit existing expense details.</a:t>
            </a:r>
          </a:p>
          <a:p>
            <a:pPr>
              <a:buFont typeface="Courier New" panose="02070309020205020404" pitchFamily="49" charset="0"/>
              <a:buChar char="o"/>
            </a:pPr>
            <a:r>
              <a:rPr lang="en-IN" sz="2000" dirty="0"/>
              <a:t>Track daily spending efficiently.</a:t>
            </a:r>
            <a:endParaRPr lang="en-US" sz="2000" b="0" dirty="0">
              <a:solidFill>
                <a:srgbClr val="000000"/>
              </a:solidFill>
            </a:endParaRPr>
          </a:p>
          <a:p>
            <a:pPr>
              <a:buFont typeface="Courier New" panose="02070309020205020404" pitchFamily="49" charset="0"/>
              <a:buChar char="o"/>
            </a:pPr>
            <a:endParaRPr lang="en-US" sz="2000" i="0" dirty="0">
              <a:solidFill>
                <a:srgbClr val="000000"/>
              </a:solidFill>
              <a:effectLst/>
            </a:endParaRPr>
          </a:p>
          <a:p>
            <a:pPr>
              <a:buBlip>
                <a:blip r:embed="rId2"/>
              </a:buBlip>
            </a:pPr>
            <a:r>
              <a:rPr lang="en-IN" sz="2400" dirty="0"/>
              <a:t>Roommate Expense Sharing</a:t>
            </a:r>
            <a:r>
              <a:rPr lang="en-US" sz="2400" b="0" i="0" dirty="0">
                <a:solidFill>
                  <a:srgbClr val="000000"/>
                </a:solidFill>
                <a:effectLst/>
              </a:rPr>
              <a:t>.</a:t>
            </a:r>
          </a:p>
          <a:p>
            <a:pPr>
              <a:buFont typeface="Courier New" panose="02070309020205020404" pitchFamily="49" charset="0"/>
              <a:buChar char="o"/>
            </a:pPr>
            <a:r>
              <a:rPr lang="en-US" sz="2000" dirty="0"/>
              <a:t>Supports splitting and managing shared expenses among roommates</a:t>
            </a:r>
            <a:r>
              <a:rPr lang="en-US" sz="2000" b="0" i="0" dirty="0">
                <a:solidFill>
                  <a:srgbClr val="000000"/>
                </a:solidFill>
                <a:effectLst/>
              </a:rPr>
              <a:t>.</a:t>
            </a:r>
          </a:p>
          <a:p>
            <a:pPr>
              <a:buFont typeface="Courier New" panose="02070309020205020404" pitchFamily="49" charset="0"/>
              <a:buChar char="o"/>
            </a:pPr>
            <a:r>
              <a:rPr lang="en-IN" sz="2000" dirty="0"/>
              <a:t>Manage shared payments easily.</a:t>
            </a:r>
          </a:p>
          <a:p>
            <a:pPr>
              <a:buFont typeface="Courier New" panose="02070309020205020404" pitchFamily="49" charset="0"/>
              <a:buChar char="o"/>
            </a:pPr>
            <a:r>
              <a:rPr lang="en-IN" sz="2000" dirty="0"/>
              <a:t>Maintain accurate balance distribution</a:t>
            </a:r>
            <a:r>
              <a:rPr lang="en-US" sz="2000" b="0" i="0" dirty="0">
                <a:solidFill>
                  <a:srgbClr val="000000"/>
                </a:solidFill>
                <a:effectLst/>
              </a:rPr>
              <a:t> </a:t>
            </a:r>
          </a:p>
          <a:p>
            <a:pPr marL="0" indent="0">
              <a:buNone/>
            </a:pPr>
            <a:r>
              <a:rPr lang="en-IN" sz="2400" dirty="0"/>
              <a:t> </a:t>
            </a:r>
            <a:endParaRPr lang="en-US" sz="2400" dirty="0"/>
          </a:p>
        </p:txBody>
      </p:sp>
      <p:sp>
        <p:nvSpPr>
          <p:cNvPr id="4" name="Slide Number Placeholder 3">
            <a:extLst>
              <a:ext uri="{FF2B5EF4-FFF2-40B4-BE49-F238E27FC236}">
                <a16:creationId xmlns:a16="http://schemas.microsoft.com/office/drawing/2014/main" id="{A7BAEC1E-B579-65D0-8FF0-FB9B3C9782D3}"/>
              </a:ext>
            </a:extLst>
          </p:cNvPr>
          <p:cNvSpPr>
            <a:spLocks noGrp="1"/>
          </p:cNvSpPr>
          <p:nvPr>
            <p:ph type="sldNum" sz="quarter" idx="4"/>
          </p:nvPr>
        </p:nvSpPr>
        <p:spPr/>
        <p:txBody>
          <a:bodyPr/>
          <a:lstStyle/>
          <a:p>
            <a:fld id="{94599A10-5031-416A-8935-40C3BCBA0AF7}" type="slidenum">
              <a:rPr lang="en-US" smtClean="0"/>
              <a:pPr/>
              <a:t>4</a:t>
            </a:fld>
            <a:endParaRPr lang="en-US" dirty="0"/>
          </a:p>
        </p:txBody>
      </p:sp>
      <p:cxnSp>
        <p:nvCxnSpPr>
          <p:cNvPr id="6" name="Straight Connector 5">
            <a:extLst>
              <a:ext uri="{FF2B5EF4-FFF2-40B4-BE49-F238E27FC236}">
                <a16:creationId xmlns:a16="http://schemas.microsoft.com/office/drawing/2014/main" id="{012C5F86-133B-A755-E799-07891E958224}"/>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E20C357-7464-A08E-2006-96611DEFD8F7}"/>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1334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017927-F2CB-A19D-E1DB-1848D5C0A0D9}"/>
              </a:ext>
            </a:extLst>
          </p:cNvPr>
          <p:cNvSpPr>
            <a:spLocks noGrp="1"/>
          </p:cNvSpPr>
          <p:nvPr>
            <p:ph type="sldNum" sz="quarter" idx="4"/>
          </p:nvPr>
        </p:nvSpPr>
        <p:spPr/>
        <p:txBody>
          <a:bodyPr/>
          <a:lstStyle/>
          <a:p>
            <a:fld id="{94599A10-5031-416A-8935-40C3BCBA0AF7}" type="slidenum">
              <a:rPr lang="en-US" smtClean="0"/>
              <a:pPr/>
              <a:t>5</a:t>
            </a:fld>
            <a:endParaRPr lang="en-US" dirty="0"/>
          </a:p>
        </p:txBody>
      </p:sp>
      <p:pic>
        <p:nvPicPr>
          <p:cNvPr id="3" name="Picture 2">
            <a:extLst>
              <a:ext uri="{FF2B5EF4-FFF2-40B4-BE49-F238E27FC236}">
                <a16:creationId xmlns:a16="http://schemas.microsoft.com/office/drawing/2014/main" id="{567D138B-B1F6-8BC6-18F4-97CE4B983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759" y="0"/>
            <a:ext cx="11416521" cy="6858000"/>
          </a:xfrm>
          <a:prstGeom prst="rect">
            <a:avLst/>
          </a:prstGeom>
        </p:spPr>
      </p:pic>
    </p:spTree>
    <p:extLst>
      <p:ext uri="{BB962C8B-B14F-4D97-AF65-F5344CB8AC3E}">
        <p14:creationId xmlns:p14="http://schemas.microsoft.com/office/powerpoint/2010/main" val="3773077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05179E-F3FF-131B-9704-8008E37C1A8B}"/>
              </a:ext>
            </a:extLst>
          </p:cNvPr>
          <p:cNvSpPr>
            <a:spLocks noGrp="1"/>
          </p:cNvSpPr>
          <p:nvPr>
            <p:ph type="sldNum" sz="quarter" idx="4"/>
          </p:nvPr>
        </p:nvSpPr>
        <p:spPr/>
        <p:txBody>
          <a:bodyPr/>
          <a:lstStyle/>
          <a:p>
            <a:fld id="{94599A10-5031-416A-8935-40C3BCBA0AF7}" type="slidenum">
              <a:rPr lang="en-US" smtClean="0"/>
              <a:pPr/>
              <a:t>6</a:t>
            </a:fld>
            <a:endParaRPr lang="en-US" dirty="0"/>
          </a:p>
        </p:txBody>
      </p:sp>
      <p:sp>
        <p:nvSpPr>
          <p:cNvPr id="29" name="Title 1">
            <a:extLst>
              <a:ext uri="{FF2B5EF4-FFF2-40B4-BE49-F238E27FC236}">
                <a16:creationId xmlns:a16="http://schemas.microsoft.com/office/drawing/2014/main" id="{B95F1A6B-DC17-BA18-786F-C65EB505C4BF}"/>
              </a:ext>
            </a:extLst>
          </p:cNvPr>
          <p:cNvSpPr>
            <a:spLocks noGrp="1"/>
          </p:cNvSpPr>
          <p:nvPr>
            <p:ph type="title"/>
          </p:nvPr>
        </p:nvSpPr>
        <p:spPr>
          <a:xfrm>
            <a:off x="838200" y="365125"/>
            <a:ext cx="10515600" cy="1325563"/>
          </a:xfrm>
        </p:spPr>
        <p:txBody>
          <a:bodyPr>
            <a:normAutofit/>
          </a:bodyPr>
          <a:lstStyle/>
          <a:p>
            <a:r>
              <a:rPr lang="en-IN" sz="3600" dirty="0"/>
              <a:t>Visual Overview</a:t>
            </a:r>
            <a:endParaRPr lang="en-US" sz="3600" dirty="0"/>
          </a:p>
        </p:txBody>
      </p:sp>
      <p:cxnSp>
        <p:nvCxnSpPr>
          <p:cNvPr id="30" name="Straight Connector 29">
            <a:extLst>
              <a:ext uri="{FF2B5EF4-FFF2-40B4-BE49-F238E27FC236}">
                <a16:creationId xmlns:a16="http://schemas.microsoft.com/office/drawing/2014/main" id="{15CF31A3-18D6-3200-B24F-2A099C97D2C2}"/>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8A6DA6F-13D6-9644-2E15-B6F67AF8C7EE}"/>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4BC54F4-2B9F-C52D-23F9-2F1B89E57B2B}"/>
              </a:ext>
            </a:extLst>
          </p:cNvPr>
          <p:cNvSpPr/>
          <p:nvPr/>
        </p:nvSpPr>
        <p:spPr>
          <a:xfrm>
            <a:off x="954835" y="4412974"/>
            <a:ext cx="4761507" cy="94978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a:p>
            <a:pPr algn="ctr"/>
            <a:r>
              <a:rPr lang="en-US" dirty="0">
                <a:solidFill>
                  <a:schemeClr val="bg1"/>
                </a:solidFill>
                <a:latin typeface="+mj-lt"/>
              </a:rPr>
              <a:t>Expense View </a:t>
            </a:r>
          </a:p>
          <a:p>
            <a:pPr algn="ctr"/>
            <a:endParaRPr lang="en-US" dirty="0"/>
          </a:p>
        </p:txBody>
      </p:sp>
      <p:sp>
        <p:nvSpPr>
          <p:cNvPr id="15" name="Rectangle 14">
            <a:extLst>
              <a:ext uri="{FF2B5EF4-FFF2-40B4-BE49-F238E27FC236}">
                <a16:creationId xmlns:a16="http://schemas.microsoft.com/office/drawing/2014/main" id="{07DB82EF-BB03-49AB-8B71-610BD338BCB8}"/>
              </a:ext>
            </a:extLst>
          </p:cNvPr>
          <p:cNvSpPr/>
          <p:nvPr/>
        </p:nvSpPr>
        <p:spPr>
          <a:xfrm>
            <a:off x="6114048" y="4412973"/>
            <a:ext cx="4761507" cy="94978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a:p>
            <a:pPr algn="ctr"/>
            <a:r>
              <a:rPr lang="en-US" dirty="0">
                <a:solidFill>
                  <a:schemeClr val="bg1"/>
                </a:solidFill>
                <a:latin typeface="+mj-lt"/>
              </a:rPr>
              <a:t>Generated Report </a:t>
            </a:r>
          </a:p>
          <a:p>
            <a:pPr algn="ctr"/>
            <a:endParaRPr lang="en-US" dirty="0"/>
          </a:p>
        </p:txBody>
      </p:sp>
      <p:pic>
        <p:nvPicPr>
          <p:cNvPr id="3" name="Picture 2">
            <a:extLst>
              <a:ext uri="{FF2B5EF4-FFF2-40B4-BE49-F238E27FC236}">
                <a16:creationId xmlns:a16="http://schemas.microsoft.com/office/drawing/2014/main" id="{6CDD7296-C87F-8A07-1A36-F9DD3058CF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025" y="1976865"/>
            <a:ext cx="4761507" cy="2436108"/>
          </a:xfrm>
          <a:prstGeom prst="rect">
            <a:avLst/>
          </a:prstGeom>
        </p:spPr>
      </p:pic>
      <p:pic>
        <p:nvPicPr>
          <p:cNvPr id="6" name="Picture 5">
            <a:extLst>
              <a:ext uri="{FF2B5EF4-FFF2-40B4-BE49-F238E27FC236}">
                <a16:creationId xmlns:a16="http://schemas.microsoft.com/office/drawing/2014/main" id="{5DB26F99-053A-9586-E9B4-7FC60CB1AE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4048" y="1976865"/>
            <a:ext cx="4761507" cy="2436108"/>
          </a:xfrm>
          <a:prstGeom prst="rect">
            <a:avLst/>
          </a:prstGeom>
        </p:spPr>
      </p:pic>
    </p:spTree>
    <p:extLst>
      <p:ext uri="{BB962C8B-B14F-4D97-AF65-F5344CB8AC3E}">
        <p14:creationId xmlns:p14="http://schemas.microsoft.com/office/powerpoint/2010/main" val="293119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253B38-8D15-C442-C8B4-CC05255CAEAE}"/>
              </a:ext>
            </a:extLst>
          </p:cNvPr>
          <p:cNvSpPr>
            <a:spLocks noGrp="1"/>
          </p:cNvSpPr>
          <p:nvPr>
            <p:ph type="sldNum" sz="quarter" idx="4"/>
          </p:nvPr>
        </p:nvSpPr>
        <p:spPr/>
        <p:txBody>
          <a:bodyPr/>
          <a:lstStyle/>
          <a:p>
            <a:fld id="{94599A10-5031-416A-8935-40C3BCBA0AF7}" type="slidenum">
              <a:rPr lang="en-US" smtClean="0"/>
              <a:pPr/>
              <a:t>7</a:t>
            </a:fld>
            <a:endParaRPr lang="en-US" dirty="0"/>
          </a:p>
        </p:txBody>
      </p:sp>
      <p:sp>
        <p:nvSpPr>
          <p:cNvPr id="8" name="Title 1">
            <a:extLst>
              <a:ext uri="{FF2B5EF4-FFF2-40B4-BE49-F238E27FC236}">
                <a16:creationId xmlns:a16="http://schemas.microsoft.com/office/drawing/2014/main" id="{B3BE2A28-E9BF-DC95-2F7E-470931707E3F}"/>
              </a:ext>
            </a:extLst>
          </p:cNvPr>
          <p:cNvSpPr>
            <a:spLocks noGrp="1"/>
          </p:cNvSpPr>
          <p:nvPr>
            <p:ph type="title"/>
          </p:nvPr>
        </p:nvSpPr>
        <p:spPr>
          <a:xfrm>
            <a:off x="838200" y="365125"/>
            <a:ext cx="10515600" cy="1325563"/>
          </a:xfrm>
        </p:spPr>
        <p:txBody>
          <a:bodyPr>
            <a:normAutofit/>
          </a:bodyPr>
          <a:lstStyle/>
          <a:p>
            <a:r>
              <a:rPr lang="en-IN" sz="3600" dirty="0"/>
              <a:t>Features Overview</a:t>
            </a:r>
            <a:endParaRPr lang="en-US" sz="3600" dirty="0"/>
          </a:p>
        </p:txBody>
      </p:sp>
      <p:cxnSp>
        <p:nvCxnSpPr>
          <p:cNvPr id="9" name="Straight Connector 8">
            <a:extLst>
              <a:ext uri="{FF2B5EF4-FFF2-40B4-BE49-F238E27FC236}">
                <a16:creationId xmlns:a16="http://schemas.microsoft.com/office/drawing/2014/main" id="{95519208-149E-0BB0-BADA-CDB093CD295D}"/>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ED35A3E-E2C0-B363-A55B-7376198CD72F}"/>
              </a:ext>
            </a:extLst>
          </p:cNvPr>
          <p:cNvCxnSpPr>
            <a:cxnSpLocks/>
          </p:cNvCxnSpPr>
          <p:nvPr/>
        </p:nvCxnSpPr>
        <p:spPr>
          <a:xfrm>
            <a:off x="4312307"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BFF543A6-0C76-048A-74BE-583ED56C5E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514" y="1690688"/>
            <a:ext cx="3158631" cy="2098036"/>
          </a:xfrm>
          <a:prstGeom prst="rect">
            <a:avLst/>
          </a:prstGeom>
        </p:spPr>
      </p:pic>
      <p:pic>
        <p:nvPicPr>
          <p:cNvPr id="7" name="Picture 6">
            <a:extLst>
              <a:ext uri="{FF2B5EF4-FFF2-40B4-BE49-F238E27FC236}">
                <a16:creationId xmlns:a16="http://schemas.microsoft.com/office/drawing/2014/main" id="{DE12571F-9C74-1899-26BF-5736DAF9F2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2307" y="1690688"/>
            <a:ext cx="3071474" cy="2098036"/>
          </a:xfrm>
          <a:prstGeom prst="rect">
            <a:avLst/>
          </a:prstGeom>
        </p:spPr>
      </p:pic>
      <p:pic>
        <p:nvPicPr>
          <p:cNvPr id="13" name="Picture 12">
            <a:extLst>
              <a:ext uri="{FF2B5EF4-FFF2-40B4-BE49-F238E27FC236}">
                <a16:creationId xmlns:a16="http://schemas.microsoft.com/office/drawing/2014/main" id="{91D31D90-57E9-7FA7-E7E4-1E67FA22E4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5617" y="1690688"/>
            <a:ext cx="3059899" cy="2098037"/>
          </a:xfrm>
          <a:prstGeom prst="rect">
            <a:avLst/>
          </a:prstGeom>
        </p:spPr>
      </p:pic>
      <p:pic>
        <p:nvPicPr>
          <p:cNvPr id="16" name="Picture 15">
            <a:extLst>
              <a:ext uri="{FF2B5EF4-FFF2-40B4-BE49-F238E27FC236}">
                <a16:creationId xmlns:a16="http://schemas.microsoft.com/office/drawing/2014/main" id="{A1ADACB1-F199-3B01-F708-4A06CE2BF2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514" y="4045267"/>
            <a:ext cx="3158386" cy="2098036"/>
          </a:xfrm>
          <a:prstGeom prst="rect">
            <a:avLst/>
          </a:prstGeom>
        </p:spPr>
      </p:pic>
      <p:pic>
        <p:nvPicPr>
          <p:cNvPr id="18" name="Picture 17">
            <a:extLst>
              <a:ext uri="{FF2B5EF4-FFF2-40B4-BE49-F238E27FC236}">
                <a16:creationId xmlns:a16="http://schemas.microsoft.com/office/drawing/2014/main" id="{23650ADF-8F65-DB33-F211-531F66F3DA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36211" y="4065269"/>
            <a:ext cx="3047570" cy="2098035"/>
          </a:xfrm>
          <a:prstGeom prst="rect">
            <a:avLst/>
          </a:prstGeom>
        </p:spPr>
      </p:pic>
      <p:pic>
        <p:nvPicPr>
          <p:cNvPr id="20" name="Picture 19">
            <a:extLst>
              <a:ext uri="{FF2B5EF4-FFF2-40B4-BE49-F238E27FC236}">
                <a16:creationId xmlns:a16="http://schemas.microsoft.com/office/drawing/2014/main" id="{3C62D888-B1F6-46D1-4144-2662E9529E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85617" y="4045267"/>
            <a:ext cx="3158631" cy="2098036"/>
          </a:xfrm>
          <a:prstGeom prst="rect">
            <a:avLst/>
          </a:prstGeom>
        </p:spPr>
      </p:pic>
    </p:spTree>
    <p:extLst>
      <p:ext uri="{BB962C8B-B14F-4D97-AF65-F5344CB8AC3E}">
        <p14:creationId xmlns:p14="http://schemas.microsoft.com/office/powerpoint/2010/main" val="3130187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24979-61A0-BB77-A1DC-1233FAEA0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768D8-0385-55AC-EF7B-9C5D83695DEA}"/>
              </a:ext>
            </a:extLst>
          </p:cNvPr>
          <p:cNvSpPr>
            <a:spLocks noGrp="1"/>
          </p:cNvSpPr>
          <p:nvPr>
            <p:ph type="title"/>
          </p:nvPr>
        </p:nvSpPr>
        <p:spPr>
          <a:xfrm>
            <a:off x="553234" y="826928"/>
            <a:ext cx="4765964" cy="1325563"/>
          </a:xfrm>
        </p:spPr>
        <p:txBody>
          <a:bodyPr>
            <a:normAutofit/>
          </a:bodyPr>
          <a:lstStyle/>
          <a:p>
            <a:r>
              <a:rPr lang="en-IN" sz="3600" dirty="0"/>
              <a:t>Detailed Explanation</a:t>
            </a:r>
            <a:endParaRPr lang="en-US" sz="3600" dirty="0"/>
          </a:p>
        </p:txBody>
      </p:sp>
      <p:sp>
        <p:nvSpPr>
          <p:cNvPr id="3" name="Content Placeholder 2">
            <a:extLst>
              <a:ext uri="{FF2B5EF4-FFF2-40B4-BE49-F238E27FC236}">
                <a16:creationId xmlns:a16="http://schemas.microsoft.com/office/drawing/2014/main" id="{8493D346-1B8B-3727-11AD-E69A184219AC}"/>
              </a:ext>
            </a:extLst>
          </p:cNvPr>
          <p:cNvSpPr>
            <a:spLocks noGrp="1"/>
          </p:cNvSpPr>
          <p:nvPr>
            <p:ph idx="1"/>
          </p:nvPr>
        </p:nvSpPr>
        <p:spPr>
          <a:xfrm>
            <a:off x="563108" y="2520516"/>
            <a:ext cx="4676002" cy="3563981"/>
          </a:xfrm>
        </p:spPr>
        <p:txBody>
          <a:bodyPr>
            <a:noAutofit/>
          </a:bodyPr>
          <a:lstStyle/>
          <a:p>
            <a:pPr marL="0" indent="0">
              <a:buNone/>
            </a:pPr>
            <a:r>
              <a:rPr lang="en-US" sz="1600" dirty="0" err="1"/>
              <a:t>Expancify</a:t>
            </a:r>
            <a:r>
              <a:rPr lang="en-US" sz="1600" dirty="0"/>
              <a:t> provides a complete solution for managing both personal and shared expenses in a simple and efficient way. Users can manually record their daily expenses and update them whenever needed. The application also allows users to manage shared expenses with roommates, ensuring proper balance calculation and fair distribution. In addition to basic expense tracking, </a:t>
            </a:r>
            <a:r>
              <a:rPr lang="en-US" sz="1600" dirty="0" err="1"/>
              <a:t>Expancify</a:t>
            </a:r>
            <a:r>
              <a:rPr lang="en-US" sz="1600" dirty="0"/>
              <a:t> includes an AI dashboard that analyzes spending data to generate meaningful reports. This helps users identify unnecessary expenses and receive smart suggestions, ultimately improving their financial management and decision-making.</a:t>
            </a:r>
          </a:p>
          <a:p>
            <a:pPr marL="0" indent="0">
              <a:buNone/>
            </a:pPr>
            <a:endParaRPr lang="en-US" sz="1600" dirty="0"/>
          </a:p>
        </p:txBody>
      </p:sp>
      <p:sp>
        <p:nvSpPr>
          <p:cNvPr id="4" name="Slide Number Placeholder 3">
            <a:extLst>
              <a:ext uri="{FF2B5EF4-FFF2-40B4-BE49-F238E27FC236}">
                <a16:creationId xmlns:a16="http://schemas.microsoft.com/office/drawing/2014/main" id="{BBA277B2-EB34-6E5E-D580-FD93F00359A0}"/>
              </a:ext>
            </a:extLst>
          </p:cNvPr>
          <p:cNvSpPr>
            <a:spLocks noGrp="1"/>
          </p:cNvSpPr>
          <p:nvPr>
            <p:ph type="sldNum" sz="quarter" idx="4"/>
          </p:nvPr>
        </p:nvSpPr>
        <p:spPr/>
        <p:txBody>
          <a:bodyPr/>
          <a:lstStyle/>
          <a:p>
            <a:fld id="{94599A10-5031-416A-8935-40C3BCBA0AF7}" type="slidenum">
              <a:rPr lang="en-US" smtClean="0"/>
              <a:pPr/>
              <a:t>8</a:t>
            </a:fld>
            <a:endParaRPr lang="en-US" dirty="0"/>
          </a:p>
        </p:txBody>
      </p:sp>
      <p:cxnSp>
        <p:nvCxnSpPr>
          <p:cNvPr id="9" name="Straight Connector 8">
            <a:extLst>
              <a:ext uri="{FF2B5EF4-FFF2-40B4-BE49-F238E27FC236}">
                <a16:creationId xmlns:a16="http://schemas.microsoft.com/office/drawing/2014/main" id="{2EDDBBFB-8785-6CB9-AE79-F3F494115A87}"/>
              </a:ext>
            </a:extLst>
          </p:cNvPr>
          <p:cNvCxnSpPr>
            <a:cxnSpLocks/>
          </p:cNvCxnSpPr>
          <p:nvPr/>
        </p:nvCxnSpPr>
        <p:spPr>
          <a:xfrm>
            <a:off x="710904" y="226875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E92BCC0-0F98-6B06-22E3-6955F957D6E9}"/>
              </a:ext>
            </a:extLst>
          </p:cNvPr>
          <p:cNvCxnSpPr>
            <a:cxnSpLocks/>
          </p:cNvCxnSpPr>
          <p:nvPr/>
        </p:nvCxnSpPr>
        <p:spPr>
          <a:xfrm>
            <a:off x="2958804" y="2268753"/>
            <a:ext cx="202692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79DDC58-70E7-9B94-C940-00EAB2B23183}"/>
              </a:ext>
            </a:extLst>
          </p:cNvPr>
          <p:cNvSpPr/>
          <p:nvPr/>
        </p:nvSpPr>
        <p:spPr>
          <a:xfrm>
            <a:off x="5480416" y="770973"/>
            <a:ext cx="3087669" cy="133696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a:p>
            <a:pPr algn="ctr"/>
            <a:r>
              <a:rPr lang="en-US" dirty="0"/>
              <a:t>Loading Screen</a:t>
            </a:r>
          </a:p>
        </p:txBody>
      </p:sp>
      <p:sp>
        <p:nvSpPr>
          <p:cNvPr id="19" name="Rectangle 18">
            <a:extLst>
              <a:ext uri="{FF2B5EF4-FFF2-40B4-BE49-F238E27FC236}">
                <a16:creationId xmlns:a16="http://schemas.microsoft.com/office/drawing/2014/main" id="{C645BCA0-80F7-8ED3-B57C-80132CC950A5}"/>
              </a:ext>
            </a:extLst>
          </p:cNvPr>
          <p:cNvSpPr/>
          <p:nvPr/>
        </p:nvSpPr>
        <p:spPr>
          <a:xfrm>
            <a:off x="8729303" y="770973"/>
            <a:ext cx="3087669" cy="133696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a:p>
            <a:pPr algn="ctr"/>
            <a:r>
              <a:rPr lang="en-US" dirty="0"/>
              <a:t>CRUD Operation </a:t>
            </a:r>
          </a:p>
        </p:txBody>
      </p:sp>
      <p:pic>
        <p:nvPicPr>
          <p:cNvPr id="8" name="Picture 7">
            <a:extLst>
              <a:ext uri="{FF2B5EF4-FFF2-40B4-BE49-F238E27FC236}">
                <a16:creationId xmlns:a16="http://schemas.microsoft.com/office/drawing/2014/main" id="{0E278569-D312-6360-23A8-86A6C83625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0416" y="2107937"/>
            <a:ext cx="3087669" cy="3317504"/>
          </a:xfrm>
          <a:prstGeom prst="rect">
            <a:avLst/>
          </a:prstGeom>
        </p:spPr>
      </p:pic>
      <p:pic>
        <p:nvPicPr>
          <p:cNvPr id="12" name="Picture 11">
            <a:extLst>
              <a:ext uri="{FF2B5EF4-FFF2-40B4-BE49-F238E27FC236}">
                <a16:creationId xmlns:a16="http://schemas.microsoft.com/office/drawing/2014/main" id="{93681BB6-FF90-21DE-4A96-9E15B9AF0E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9303" y="2107937"/>
            <a:ext cx="3087669" cy="3317504"/>
          </a:xfrm>
          <a:prstGeom prst="rect">
            <a:avLst/>
          </a:prstGeom>
        </p:spPr>
      </p:pic>
    </p:spTree>
    <p:extLst>
      <p:ext uri="{BB962C8B-B14F-4D97-AF65-F5344CB8AC3E}">
        <p14:creationId xmlns:p14="http://schemas.microsoft.com/office/powerpoint/2010/main" val="3599882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7C5E4-8ECB-0E2D-E391-C029C0B28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DEBA86-AA72-9CAC-ED2C-F0F92C8ED626}"/>
              </a:ext>
            </a:extLst>
          </p:cNvPr>
          <p:cNvSpPr>
            <a:spLocks noGrp="1"/>
          </p:cNvSpPr>
          <p:nvPr>
            <p:ph type="title"/>
          </p:nvPr>
        </p:nvSpPr>
        <p:spPr>
          <a:xfrm>
            <a:off x="563107" y="966354"/>
            <a:ext cx="6614899" cy="1325563"/>
          </a:xfrm>
        </p:spPr>
        <p:txBody>
          <a:bodyPr>
            <a:normAutofit/>
          </a:bodyPr>
          <a:lstStyle/>
          <a:p>
            <a:r>
              <a:rPr lang="en-US" sz="3600" dirty="0"/>
              <a:t>T</a:t>
            </a:r>
            <a:r>
              <a:rPr lang="en-IN" sz="3600" dirty="0" err="1"/>
              <a:t>ech</a:t>
            </a:r>
            <a:r>
              <a:rPr lang="en-IN" sz="3600" dirty="0"/>
              <a:t>-Stack</a:t>
            </a:r>
            <a:endParaRPr lang="en-US" sz="3600" dirty="0"/>
          </a:p>
        </p:txBody>
      </p:sp>
      <p:sp>
        <p:nvSpPr>
          <p:cNvPr id="3" name="Content Placeholder 2">
            <a:extLst>
              <a:ext uri="{FF2B5EF4-FFF2-40B4-BE49-F238E27FC236}">
                <a16:creationId xmlns:a16="http://schemas.microsoft.com/office/drawing/2014/main" id="{14665420-EC55-DFC9-7019-A17C9DEA3C56}"/>
              </a:ext>
            </a:extLst>
          </p:cNvPr>
          <p:cNvSpPr>
            <a:spLocks noGrp="1"/>
          </p:cNvSpPr>
          <p:nvPr>
            <p:ph idx="1"/>
          </p:nvPr>
        </p:nvSpPr>
        <p:spPr>
          <a:xfrm>
            <a:off x="563107" y="2520516"/>
            <a:ext cx="6896873" cy="3674537"/>
          </a:xfrm>
        </p:spPr>
        <p:txBody>
          <a:bodyPr>
            <a:noAutofit/>
          </a:bodyPr>
          <a:lstStyle/>
          <a:p>
            <a:pPr>
              <a:buBlip>
                <a:blip r:embed="rId2"/>
              </a:buBlip>
            </a:pPr>
            <a:r>
              <a:rPr lang="en-US" sz="1800" b="1" dirty="0"/>
              <a:t>Frontend:</a:t>
            </a:r>
            <a:r>
              <a:rPr lang="en-US" sz="1800" dirty="0"/>
              <a:t> React.js, Tailwind CSS.</a:t>
            </a:r>
          </a:p>
          <a:p>
            <a:pPr>
              <a:buBlip>
                <a:blip r:embed="rId2"/>
              </a:buBlip>
            </a:pPr>
            <a:r>
              <a:rPr lang="en-US" sz="1800" b="1" dirty="0"/>
              <a:t>Backend:</a:t>
            </a:r>
            <a:r>
              <a:rPr lang="en-US" sz="1800" dirty="0"/>
              <a:t> Node.js, Express.js</a:t>
            </a:r>
          </a:p>
          <a:p>
            <a:pPr>
              <a:buBlip>
                <a:blip r:embed="rId2"/>
              </a:buBlip>
            </a:pPr>
            <a:r>
              <a:rPr lang="en-IN" sz="1800" b="1" dirty="0"/>
              <a:t>Database:</a:t>
            </a:r>
            <a:r>
              <a:rPr lang="en-IN" sz="1800" dirty="0"/>
              <a:t> MongoDB.</a:t>
            </a:r>
          </a:p>
          <a:p>
            <a:pPr>
              <a:buBlip>
                <a:blip r:embed="rId2"/>
              </a:buBlip>
            </a:pPr>
            <a:r>
              <a:rPr lang="en-IN" sz="1800" b="1" dirty="0"/>
              <a:t>Authentication:</a:t>
            </a:r>
            <a:r>
              <a:rPr lang="en-IN" sz="1800" dirty="0"/>
              <a:t> JWT.</a:t>
            </a:r>
          </a:p>
          <a:p>
            <a:pPr>
              <a:buBlip>
                <a:blip r:embed="rId2"/>
              </a:buBlip>
            </a:pPr>
            <a:r>
              <a:rPr lang="en-IN" sz="1800" b="1" dirty="0"/>
              <a:t>AI Module:</a:t>
            </a:r>
            <a:r>
              <a:rPr lang="en-IN" sz="1800" dirty="0"/>
              <a:t> Gemini API.</a:t>
            </a:r>
          </a:p>
          <a:p>
            <a:pPr>
              <a:buBlip>
                <a:blip r:embed="rId2"/>
              </a:buBlip>
            </a:pPr>
            <a:r>
              <a:rPr lang="en-IN" sz="1800" b="1" dirty="0"/>
              <a:t>Testing:</a:t>
            </a:r>
            <a:r>
              <a:rPr lang="en-IN" sz="1800" dirty="0"/>
              <a:t> Jest</a:t>
            </a:r>
          </a:p>
          <a:p>
            <a:pPr>
              <a:buBlip>
                <a:blip r:embed="rId2"/>
              </a:buBlip>
            </a:pPr>
            <a:r>
              <a:rPr lang="en-IN" sz="1800" b="1" dirty="0"/>
              <a:t>Version Control:</a:t>
            </a:r>
            <a:r>
              <a:rPr lang="en-IN" sz="1800" dirty="0"/>
              <a:t> Git &amp; GitHub</a:t>
            </a:r>
          </a:p>
          <a:p>
            <a:pPr>
              <a:buBlip>
                <a:blip r:embed="rId2"/>
              </a:buBlip>
            </a:pPr>
            <a:r>
              <a:rPr lang="en-IN" sz="1800" b="1" dirty="0"/>
              <a:t>Tools:</a:t>
            </a:r>
            <a:r>
              <a:rPr lang="en-IN" sz="1800" dirty="0"/>
              <a:t> VS Code, Postman</a:t>
            </a:r>
            <a:endParaRPr lang="en-US" sz="1800" dirty="0"/>
          </a:p>
        </p:txBody>
      </p:sp>
      <p:sp>
        <p:nvSpPr>
          <p:cNvPr id="4" name="Slide Number Placeholder 3">
            <a:extLst>
              <a:ext uri="{FF2B5EF4-FFF2-40B4-BE49-F238E27FC236}">
                <a16:creationId xmlns:a16="http://schemas.microsoft.com/office/drawing/2014/main" id="{4D3A953C-D54F-459A-1525-EC5D00149FE3}"/>
              </a:ext>
            </a:extLst>
          </p:cNvPr>
          <p:cNvSpPr>
            <a:spLocks noGrp="1"/>
          </p:cNvSpPr>
          <p:nvPr>
            <p:ph type="sldNum" sz="quarter" idx="4"/>
          </p:nvPr>
        </p:nvSpPr>
        <p:spPr/>
        <p:txBody>
          <a:bodyPr/>
          <a:lstStyle/>
          <a:p>
            <a:fld id="{94599A10-5031-416A-8935-40C3BCBA0AF7}" type="slidenum">
              <a:rPr lang="en-US" smtClean="0"/>
              <a:pPr/>
              <a:t>9</a:t>
            </a:fld>
            <a:endParaRPr lang="en-US" dirty="0"/>
          </a:p>
        </p:txBody>
      </p:sp>
      <p:sp>
        <p:nvSpPr>
          <p:cNvPr id="8" name="Rectangle 7">
            <a:extLst>
              <a:ext uri="{FF2B5EF4-FFF2-40B4-BE49-F238E27FC236}">
                <a16:creationId xmlns:a16="http://schemas.microsoft.com/office/drawing/2014/main" id="{D6001FC4-7576-192E-B809-67E6861B0C2D}"/>
              </a:ext>
            </a:extLst>
          </p:cNvPr>
          <p:cNvSpPr/>
          <p:nvPr/>
        </p:nvSpPr>
        <p:spPr>
          <a:xfrm>
            <a:off x="640033" y="662947"/>
            <a:ext cx="1939636" cy="831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10" name="Rectangle 9">
            <a:extLst>
              <a:ext uri="{FF2B5EF4-FFF2-40B4-BE49-F238E27FC236}">
                <a16:creationId xmlns:a16="http://schemas.microsoft.com/office/drawing/2014/main" id="{FE2A292E-45E5-57D0-5371-9511805A42A5}"/>
              </a:ext>
            </a:extLst>
          </p:cNvPr>
          <p:cNvSpPr/>
          <p:nvPr/>
        </p:nvSpPr>
        <p:spPr>
          <a:xfrm>
            <a:off x="7946392" y="2088622"/>
            <a:ext cx="3087670" cy="380302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3FD79BC-9705-C757-2181-7AE95171FAD9}"/>
              </a:ext>
            </a:extLst>
          </p:cNvPr>
          <p:cNvSpPr/>
          <p:nvPr/>
        </p:nvSpPr>
        <p:spPr>
          <a:xfrm>
            <a:off x="7946393" y="966354"/>
            <a:ext cx="3087669" cy="133696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a:p>
            <a:pPr algn="ctr"/>
            <a:r>
              <a:rPr lang="en-US" dirty="0"/>
              <a:t>Room creation </a:t>
            </a:r>
          </a:p>
        </p:txBody>
      </p:sp>
      <p:pic>
        <p:nvPicPr>
          <p:cNvPr id="6" name="Picture 5">
            <a:extLst>
              <a:ext uri="{FF2B5EF4-FFF2-40B4-BE49-F238E27FC236}">
                <a16:creationId xmlns:a16="http://schemas.microsoft.com/office/drawing/2014/main" id="{2811D8DC-0F55-7EAC-1791-3AEA89F759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5578" y="966354"/>
            <a:ext cx="7046422" cy="4925292"/>
          </a:xfrm>
          <a:prstGeom prst="rect">
            <a:avLst/>
          </a:prstGeom>
        </p:spPr>
      </p:pic>
    </p:spTree>
    <p:extLst>
      <p:ext uri="{BB962C8B-B14F-4D97-AF65-F5344CB8AC3E}">
        <p14:creationId xmlns:p14="http://schemas.microsoft.com/office/powerpoint/2010/main" val="3841037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40F6-4A4F-1568-4FDE-8AEBF7EF17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020D3B-941D-5101-2A51-BB74E81AAA52}"/>
              </a:ext>
            </a:extLst>
          </p:cNvPr>
          <p:cNvSpPr>
            <a:spLocks noGrp="1"/>
          </p:cNvSpPr>
          <p:nvPr>
            <p:ph type="sldNum" sz="quarter" idx="4"/>
          </p:nvPr>
        </p:nvSpPr>
        <p:spPr/>
        <p:txBody>
          <a:bodyPr/>
          <a:lstStyle/>
          <a:p>
            <a:fld id="{94599A10-5031-416A-8935-40C3BCBA0AF7}" type="slidenum">
              <a:rPr lang="en-US" smtClean="0"/>
              <a:pPr/>
              <a:t>10</a:t>
            </a:fld>
            <a:endParaRPr lang="en-US" dirty="0"/>
          </a:p>
        </p:txBody>
      </p:sp>
      <p:sp>
        <p:nvSpPr>
          <p:cNvPr id="8" name="Title 1">
            <a:extLst>
              <a:ext uri="{FF2B5EF4-FFF2-40B4-BE49-F238E27FC236}">
                <a16:creationId xmlns:a16="http://schemas.microsoft.com/office/drawing/2014/main" id="{2DFCAF8C-3195-8F48-34E9-F709FCC815AE}"/>
              </a:ext>
            </a:extLst>
          </p:cNvPr>
          <p:cNvSpPr>
            <a:spLocks noGrp="1"/>
          </p:cNvSpPr>
          <p:nvPr>
            <p:ph type="title"/>
          </p:nvPr>
        </p:nvSpPr>
        <p:spPr>
          <a:xfrm>
            <a:off x="914400" y="327805"/>
            <a:ext cx="8126083" cy="956891"/>
          </a:xfrm>
        </p:spPr>
        <p:txBody>
          <a:bodyPr>
            <a:noAutofit/>
          </a:bodyPr>
          <a:lstStyle/>
          <a:p>
            <a:r>
              <a:rPr lang="en-IN" sz="3600" dirty="0"/>
              <a:t>Comparison Table</a:t>
            </a:r>
            <a:endParaRPr lang="en-US" sz="3600" dirty="0"/>
          </a:p>
        </p:txBody>
      </p:sp>
      <p:cxnSp>
        <p:nvCxnSpPr>
          <p:cNvPr id="9" name="Straight Connector 8">
            <a:extLst>
              <a:ext uri="{FF2B5EF4-FFF2-40B4-BE49-F238E27FC236}">
                <a16:creationId xmlns:a16="http://schemas.microsoft.com/office/drawing/2014/main" id="{DC8CFE02-1512-BEEE-6D1F-F91B7E45585E}"/>
              </a:ext>
            </a:extLst>
          </p:cNvPr>
          <p:cNvCxnSpPr>
            <a:cxnSpLocks/>
          </p:cNvCxnSpPr>
          <p:nvPr/>
        </p:nvCxnSpPr>
        <p:spPr>
          <a:xfrm>
            <a:off x="9144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69E4DB2-05FC-242E-6807-3B995F9F76B5}"/>
              </a:ext>
            </a:extLst>
          </p:cNvPr>
          <p:cNvCxnSpPr>
            <a:cxnSpLocks/>
          </p:cNvCxnSpPr>
          <p:nvPr/>
        </p:nvCxnSpPr>
        <p:spPr>
          <a:xfrm>
            <a:off x="4388507"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6C03942E-327F-9376-8AF0-20D8431666A2}"/>
              </a:ext>
            </a:extLst>
          </p:cNvPr>
          <p:cNvGraphicFramePr>
            <a:graphicFrameLocks noGrp="1"/>
          </p:cNvGraphicFramePr>
          <p:nvPr>
            <p:extLst>
              <p:ext uri="{D42A27DB-BD31-4B8C-83A1-F6EECF244321}">
                <p14:modId xmlns:p14="http://schemas.microsoft.com/office/powerpoint/2010/main" val="249691058"/>
              </p:ext>
            </p:extLst>
          </p:nvPr>
        </p:nvGraphicFramePr>
        <p:xfrm>
          <a:off x="914400" y="1879099"/>
          <a:ext cx="9956799" cy="3904480"/>
        </p:xfrm>
        <a:graphic>
          <a:graphicData uri="http://schemas.openxmlformats.org/drawingml/2006/table">
            <a:tbl>
              <a:tblPr firstRow="1" bandRow="1">
                <a:tableStyleId>{5C22544A-7EE6-4342-B048-85BDC9FD1C3A}</a:tableStyleId>
              </a:tblPr>
              <a:tblGrid>
                <a:gridCol w="3318933">
                  <a:extLst>
                    <a:ext uri="{9D8B030D-6E8A-4147-A177-3AD203B41FA5}">
                      <a16:colId xmlns:a16="http://schemas.microsoft.com/office/drawing/2014/main" val="1267061366"/>
                    </a:ext>
                  </a:extLst>
                </a:gridCol>
                <a:gridCol w="3318933">
                  <a:extLst>
                    <a:ext uri="{9D8B030D-6E8A-4147-A177-3AD203B41FA5}">
                      <a16:colId xmlns:a16="http://schemas.microsoft.com/office/drawing/2014/main" val="411632819"/>
                    </a:ext>
                  </a:extLst>
                </a:gridCol>
                <a:gridCol w="3318933">
                  <a:extLst>
                    <a:ext uri="{9D8B030D-6E8A-4147-A177-3AD203B41FA5}">
                      <a16:colId xmlns:a16="http://schemas.microsoft.com/office/drawing/2014/main" val="1731703902"/>
                    </a:ext>
                  </a:extLst>
                </a:gridCol>
              </a:tblGrid>
              <a:tr h="488060">
                <a:tc>
                  <a:txBody>
                    <a:bodyPr/>
                    <a:lstStyle/>
                    <a:p>
                      <a:r>
                        <a:rPr lang="en-IN" sz="2000" dirty="0"/>
                        <a:t>Factor</a:t>
                      </a:r>
                      <a:endParaRPr lang="en-US" sz="2000" dirty="0">
                        <a:latin typeface="+mj-lt"/>
                      </a:endParaRPr>
                    </a:p>
                  </a:txBody>
                  <a:tcPr/>
                </a:tc>
                <a:tc>
                  <a:txBody>
                    <a:bodyPr/>
                    <a:lstStyle/>
                    <a:p>
                      <a:r>
                        <a:rPr lang="en-IN" sz="2000" dirty="0"/>
                        <a:t>Traditional Method</a:t>
                      </a:r>
                      <a:endParaRPr lang="en-US" sz="2000" dirty="0">
                        <a:latin typeface="+mj-lt"/>
                      </a:endParaRPr>
                    </a:p>
                  </a:txBody>
                  <a:tcPr/>
                </a:tc>
                <a:tc>
                  <a:txBody>
                    <a:bodyPr/>
                    <a:lstStyle/>
                    <a:p>
                      <a:pPr>
                        <a:buNone/>
                      </a:pPr>
                      <a:r>
                        <a:rPr lang="en-IN" dirty="0" err="1"/>
                        <a:t>Expancify</a:t>
                      </a:r>
                      <a:endParaRPr lang="en-IN" dirty="0"/>
                    </a:p>
                  </a:txBody>
                  <a:tcPr anchor="ctr"/>
                </a:tc>
                <a:extLst>
                  <a:ext uri="{0D108BD9-81ED-4DB2-BD59-A6C34878D82A}">
                    <a16:rowId xmlns:a16="http://schemas.microsoft.com/office/drawing/2014/main" val="810366645"/>
                  </a:ext>
                </a:extLst>
              </a:tr>
              <a:tr h="488060">
                <a:tc>
                  <a:txBody>
                    <a:bodyPr/>
                    <a:lstStyle/>
                    <a:p>
                      <a:r>
                        <a:rPr lang="en-IN" dirty="0"/>
                        <a:t>Expense Tracking</a:t>
                      </a:r>
                      <a:endParaRPr lang="en-US" dirty="0"/>
                    </a:p>
                  </a:txBody>
                  <a:tcPr/>
                </a:tc>
                <a:tc>
                  <a:txBody>
                    <a:bodyPr/>
                    <a:lstStyle/>
                    <a:p>
                      <a:r>
                        <a:rPr lang="en-IN" dirty="0"/>
                        <a:t>Manual (notebooks / memory)</a:t>
                      </a:r>
                      <a:endParaRPr lang="en-US" dirty="0"/>
                    </a:p>
                  </a:txBody>
                  <a:tcPr/>
                </a:tc>
                <a:tc>
                  <a:txBody>
                    <a:bodyPr/>
                    <a:lstStyle/>
                    <a:p>
                      <a:r>
                        <a:rPr lang="en-IN" dirty="0"/>
                        <a:t>Digital and organized</a:t>
                      </a:r>
                      <a:endParaRPr lang="en-US" dirty="0"/>
                    </a:p>
                  </a:txBody>
                  <a:tcPr/>
                </a:tc>
                <a:extLst>
                  <a:ext uri="{0D108BD9-81ED-4DB2-BD59-A6C34878D82A}">
                    <a16:rowId xmlns:a16="http://schemas.microsoft.com/office/drawing/2014/main" val="4049071351"/>
                  </a:ext>
                </a:extLst>
              </a:tr>
              <a:tr h="488060">
                <a:tc>
                  <a:txBody>
                    <a:bodyPr/>
                    <a:lstStyle/>
                    <a:p>
                      <a:r>
                        <a:rPr lang="en-IN" dirty="0"/>
                        <a:t>Accuracy</a:t>
                      </a:r>
                      <a:endParaRPr lang="en-US" dirty="0"/>
                    </a:p>
                  </a:txBody>
                  <a:tcPr/>
                </a:tc>
                <a:tc>
                  <a:txBody>
                    <a:bodyPr/>
                    <a:lstStyle/>
                    <a:p>
                      <a:r>
                        <a:rPr lang="en-IN" dirty="0"/>
                        <a:t>Prone to errors</a:t>
                      </a:r>
                      <a:endParaRPr lang="en-US" dirty="0"/>
                    </a:p>
                  </a:txBody>
                  <a:tcPr/>
                </a:tc>
                <a:tc>
                  <a:txBody>
                    <a:bodyPr/>
                    <a:lstStyle/>
                    <a:p>
                      <a:r>
                        <a:rPr lang="en-IN" dirty="0"/>
                        <a:t>High accuracy</a:t>
                      </a:r>
                      <a:endParaRPr lang="en-US" dirty="0"/>
                    </a:p>
                  </a:txBody>
                  <a:tcPr/>
                </a:tc>
                <a:extLst>
                  <a:ext uri="{0D108BD9-81ED-4DB2-BD59-A6C34878D82A}">
                    <a16:rowId xmlns:a16="http://schemas.microsoft.com/office/drawing/2014/main" val="3080863970"/>
                  </a:ext>
                </a:extLst>
              </a:tr>
              <a:tr h="488060">
                <a:tc>
                  <a:txBody>
                    <a:bodyPr/>
                    <a:lstStyle/>
                    <a:p>
                      <a:r>
                        <a:rPr lang="en-IN" dirty="0"/>
                        <a:t>Time Consumption</a:t>
                      </a:r>
                      <a:endParaRPr lang="en-US" dirty="0"/>
                    </a:p>
                  </a:txBody>
                  <a:tcPr/>
                </a:tc>
                <a:tc>
                  <a:txBody>
                    <a:bodyPr/>
                    <a:lstStyle/>
                    <a:p>
                      <a:pPr>
                        <a:buNone/>
                      </a:pPr>
                      <a:r>
                        <a:rPr lang="en-IN" dirty="0"/>
                        <a:t>Time-consuming</a:t>
                      </a:r>
                    </a:p>
                  </a:txBody>
                  <a:tcPr anchor="ctr"/>
                </a:tc>
                <a:tc>
                  <a:txBody>
                    <a:bodyPr/>
                    <a:lstStyle/>
                    <a:p>
                      <a:pPr>
                        <a:buNone/>
                      </a:pPr>
                      <a:r>
                        <a:rPr lang="en-US" dirty="0"/>
                        <a:t>Fast and efficient </a:t>
                      </a:r>
                      <a:endParaRPr lang="en-IN" dirty="0"/>
                    </a:p>
                  </a:txBody>
                  <a:tcPr anchor="ctr"/>
                </a:tc>
                <a:extLst>
                  <a:ext uri="{0D108BD9-81ED-4DB2-BD59-A6C34878D82A}">
                    <a16:rowId xmlns:a16="http://schemas.microsoft.com/office/drawing/2014/main" val="2735438517"/>
                  </a:ext>
                </a:extLst>
              </a:tr>
              <a:tr h="488060">
                <a:tc>
                  <a:txBody>
                    <a:bodyPr/>
                    <a:lstStyle/>
                    <a:p>
                      <a:r>
                        <a:rPr lang="en-IN" dirty="0"/>
                        <a:t>Expense Sharing</a:t>
                      </a:r>
                      <a:endParaRPr lang="en-US" dirty="0"/>
                    </a:p>
                  </a:txBody>
                  <a:tcPr/>
                </a:tc>
                <a:tc>
                  <a:txBody>
                    <a:bodyPr/>
                    <a:lstStyle/>
                    <a:p>
                      <a:r>
                        <a:rPr lang="en-IN" dirty="0"/>
                        <a:t>Difficult to manage</a:t>
                      </a:r>
                      <a:endParaRPr lang="en-US" dirty="0"/>
                    </a:p>
                  </a:txBody>
                  <a:tcPr/>
                </a:tc>
                <a:tc>
                  <a:txBody>
                    <a:bodyPr/>
                    <a:lstStyle/>
                    <a:p>
                      <a:r>
                        <a:rPr lang="en-IN" dirty="0"/>
                        <a:t>Easy roommate sharing</a:t>
                      </a:r>
                      <a:endParaRPr lang="en-US" dirty="0"/>
                    </a:p>
                  </a:txBody>
                  <a:tcPr/>
                </a:tc>
                <a:extLst>
                  <a:ext uri="{0D108BD9-81ED-4DB2-BD59-A6C34878D82A}">
                    <a16:rowId xmlns:a16="http://schemas.microsoft.com/office/drawing/2014/main" val="307723722"/>
                  </a:ext>
                </a:extLst>
              </a:tr>
              <a:tr h="488060">
                <a:tc>
                  <a:txBody>
                    <a:bodyPr/>
                    <a:lstStyle/>
                    <a:p>
                      <a:r>
                        <a:rPr lang="en-US" dirty="0"/>
                        <a:t>Insights</a:t>
                      </a:r>
                    </a:p>
                  </a:txBody>
                  <a:tcPr/>
                </a:tc>
                <a:tc>
                  <a:txBody>
                    <a:bodyPr/>
                    <a:lstStyle/>
                    <a:p>
                      <a:r>
                        <a:rPr lang="en-US" dirty="0"/>
                        <a:t>No analysis</a:t>
                      </a:r>
                    </a:p>
                  </a:txBody>
                  <a:tcPr/>
                </a:tc>
                <a:tc>
                  <a:txBody>
                    <a:bodyPr/>
                    <a:lstStyle/>
                    <a:p>
                      <a:r>
                        <a:rPr lang="en-IN" dirty="0"/>
                        <a:t>AI-based reports &amp; suggestions</a:t>
                      </a:r>
                      <a:endParaRPr lang="en-US" dirty="0"/>
                    </a:p>
                  </a:txBody>
                  <a:tcPr/>
                </a:tc>
                <a:extLst>
                  <a:ext uri="{0D108BD9-81ED-4DB2-BD59-A6C34878D82A}">
                    <a16:rowId xmlns:a16="http://schemas.microsoft.com/office/drawing/2014/main" val="4146983493"/>
                  </a:ext>
                </a:extLst>
              </a:tr>
              <a:tr h="488060">
                <a:tc>
                  <a:txBody>
                    <a:bodyPr/>
                    <a:lstStyle/>
                    <a:p>
                      <a:r>
                        <a:rPr lang="en-IN" dirty="0"/>
                        <a:t>Accessibility</a:t>
                      </a:r>
                      <a:endParaRPr lang="en-US" dirty="0"/>
                    </a:p>
                  </a:txBody>
                  <a:tcPr/>
                </a:tc>
                <a:tc>
                  <a:txBody>
                    <a:bodyPr/>
                    <a:lstStyle/>
                    <a:p>
                      <a:r>
                        <a:rPr lang="en-IN" dirty="0"/>
                        <a:t>Limited</a:t>
                      </a:r>
                      <a:endParaRPr lang="en-US" dirty="0"/>
                    </a:p>
                  </a:txBody>
                  <a:tcPr/>
                </a:tc>
                <a:tc>
                  <a:txBody>
                    <a:bodyPr/>
                    <a:lstStyle/>
                    <a:p>
                      <a:pPr>
                        <a:buNone/>
                      </a:pPr>
                      <a:r>
                        <a:rPr lang="en-US" dirty="0"/>
                        <a:t>Accessible anytime</a:t>
                      </a:r>
                      <a:endParaRPr lang="en-IN" dirty="0"/>
                    </a:p>
                  </a:txBody>
                  <a:tcPr anchor="ctr"/>
                </a:tc>
                <a:extLst>
                  <a:ext uri="{0D108BD9-81ED-4DB2-BD59-A6C34878D82A}">
                    <a16:rowId xmlns:a16="http://schemas.microsoft.com/office/drawing/2014/main" val="1581192069"/>
                  </a:ext>
                </a:extLst>
              </a:tr>
              <a:tr h="488060">
                <a:tc>
                  <a:txBody>
                    <a:bodyPr/>
                    <a:lstStyle/>
                    <a:p>
                      <a:r>
                        <a:rPr lang="en-US" dirty="0"/>
                        <a:t>Data Security</a:t>
                      </a:r>
                    </a:p>
                  </a:txBody>
                  <a:tcPr/>
                </a:tc>
                <a:tc>
                  <a:txBody>
                    <a:bodyPr/>
                    <a:lstStyle/>
                    <a:p>
                      <a:r>
                        <a:rPr lang="en-US" dirty="0"/>
                        <a:t>Data may loss</a:t>
                      </a:r>
                    </a:p>
                  </a:txBody>
                  <a:tcPr/>
                </a:tc>
                <a:tc>
                  <a:txBody>
                    <a:bodyPr/>
                    <a:lstStyle/>
                    <a:p>
                      <a:r>
                        <a:rPr lang="en-US" dirty="0"/>
                        <a:t>Secure and safe</a:t>
                      </a:r>
                    </a:p>
                  </a:txBody>
                  <a:tcPr/>
                </a:tc>
                <a:extLst>
                  <a:ext uri="{0D108BD9-81ED-4DB2-BD59-A6C34878D82A}">
                    <a16:rowId xmlns:a16="http://schemas.microsoft.com/office/drawing/2014/main" val="457038558"/>
                  </a:ext>
                </a:extLst>
              </a:tr>
            </a:tbl>
          </a:graphicData>
        </a:graphic>
      </p:graphicFrame>
    </p:spTree>
    <p:extLst>
      <p:ext uri="{BB962C8B-B14F-4D97-AF65-F5344CB8AC3E}">
        <p14:creationId xmlns:p14="http://schemas.microsoft.com/office/powerpoint/2010/main" val="2727521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6B30A-CB62-FA76-6BC7-DE5375513A1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29733E-760D-DDCF-4795-39DF8A2C8E4E}"/>
              </a:ext>
            </a:extLst>
          </p:cNvPr>
          <p:cNvSpPr>
            <a:spLocks noGrp="1"/>
          </p:cNvSpPr>
          <p:nvPr>
            <p:ph type="sldNum" sz="quarter" idx="4"/>
          </p:nvPr>
        </p:nvSpPr>
        <p:spPr/>
        <p:txBody>
          <a:bodyPr/>
          <a:lstStyle/>
          <a:p>
            <a:fld id="{94599A10-5031-416A-8935-40C3BCBA0AF7}" type="slidenum">
              <a:rPr lang="en-US" smtClean="0"/>
              <a:pPr/>
              <a:t>11</a:t>
            </a:fld>
            <a:endParaRPr lang="en-US" dirty="0"/>
          </a:p>
        </p:txBody>
      </p:sp>
      <p:sp>
        <p:nvSpPr>
          <p:cNvPr id="8" name="Title 1">
            <a:extLst>
              <a:ext uri="{FF2B5EF4-FFF2-40B4-BE49-F238E27FC236}">
                <a16:creationId xmlns:a16="http://schemas.microsoft.com/office/drawing/2014/main" id="{8AA7AEF3-920E-092C-03AE-CC9B506475ED}"/>
              </a:ext>
            </a:extLst>
          </p:cNvPr>
          <p:cNvSpPr>
            <a:spLocks noGrp="1"/>
          </p:cNvSpPr>
          <p:nvPr>
            <p:ph type="title"/>
          </p:nvPr>
        </p:nvSpPr>
        <p:spPr>
          <a:xfrm>
            <a:off x="730622" y="94828"/>
            <a:ext cx="10515600" cy="1325563"/>
          </a:xfrm>
        </p:spPr>
        <p:txBody>
          <a:bodyPr>
            <a:normAutofit/>
          </a:bodyPr>
          <a:lstStyle/>
          <a:p>
            <a:pPr rtl="0">
              <a:spcBef>
                <a:spcPts val="0"/>
              </a:spcBef>
              <a:spcAft>
                <a:spcPts val="0"/>
              </a:spcAft>
            </a:pPr>
            <a:r>
              <a:rPr lang="en-US" sz="3600" i="0" u="none" strike="noStrike" dirty="0">
                <a:solidFill>
                  <a:srgbClr val="A32837"/>
                </a:solidFill>
                <a:effectLst/>
              </a:rPr>
              <a:t>Flowchart </a:t>
            </a:r>
            <a:endParaRPr lang="en-US" sz="3600" dirty="0"/>
          </a:p>
        </p:txBody>
      </p:sp>
      <p:cxnSp>
        <p:nvCxnSpPr>
          <p:cNvPr id="9" name="Straight Connector 8">
            <a:extLst>
              <a:ext uri="{FF2B5EF4-FFF2-40B4-BE49-F238E27FC236}">
                <a16:creationId xmlns:a16="http://schemas.microsoft.com/office/drawing/2014/main" id="{4274EB2F-372D-8AE8-437B-AFD4FBB63183}"/>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502364C-CB36-7C65-16A4-6F9BDCFC40D9}"/>
              </a:ext>
            </a:extLst>
          </p:cNvPr>
          <p:cNvCxnSpPr>
            <a:cxnSpLocks/>
          </p:cNvCxnSpPr>
          <p:nvPr/>
        </p:nvCxnSpPr>
        <p:spPr>
          <a:xfrm>
            <a:off x="4312307"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4E7CB16-D6BE-C7BB-3795-8ED3801DCA02}"/>
              </a:ext>
            </a:extLst>
          </p:cNvPr>
          <p:cNvSpPr/>
          <p:nvPr/>
        </p:nvSpPr>
        <p:spPr>
          <a:xfrm>
            <a:off x="4613618" y="2055813"/>
            <a:ext cx="3289295" cy="11241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Expense Management</a:t>
            </a:r>
            <a:endParaRPr lang="en-US" dirty="0">
              <a:latin typeface="+mj-lt"/>
            </a:endParaRPr>
          </a:p>
        </p:txBody>
      </p:sp>
      <p:sp>
        <p:nvSpPr>
          <p:cNvPr id="5" name="Rectangle 4">
            <a:extLst>
              <a:ext uri="{FF2B5EF4-FFF2-40B4-BE49-F238E27FC236}">
                <a16:creationId xmlns:a16="http://schemas.microsoft.com/office/drawing/2014/main" id="{FAAF0F9C-52A5-08CF-3241-BDEC0BE96C2D}"/>
              </a:ext>
            </a:extLst>
          </p:cNvPr>
          <p:cNvSpPr/>
          <p:nvPr/>
        </p:nvSpPr>
        <p:spPr>
          <a:xfrm>
            <a:off x="3207653" y="4264206"/>
            <a:ext cx="2384612" cy="132527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Roommate Sharing</a:t>
            </a:r>
            <a:endParaRPr lang="en-US" dirty="0">
              <a:latin typeface="+mj-lt"/>
            </a:endParaRPr>
          </a:p>
        </p:txBody>
      </p:sp>
      <p:sp>
        <p:nvSpPr>
          <p:cNvPr id="6" name="Rectangle 5">
            <a:extLst>
              <a:ext uri="{FF2B5EF4-FFF2-40B4-BE49-F238E27FC236}">
                <a16:creationId xmlns:a16="http://schemas.microsoft.com/office/drawing/2014/main" id="{687AEFC7-EAD8-377D-C96E-D38049E0F10A}"/>
              </a:ext>
            </a:extLst>
          </p:cNvPr>
          <p:cNvSpPr/>
          <p:nvPr/>
        </p:nvSpPr>
        <p:spPr>
          <a:xfrm>
            <a:off x="6922030" y="4264206"/>
            <a:ext cx="2384612" cy="132527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AI Analysis</a:t>
            </a:r>
            <a:endParaRPr lang="en-US" dirty="0">
              <a:latin typeface="+mj-lt"/>
            </a:endParaRPr>
          </a:p>
        </p:txBody>
      </p:sp>
      <p:cxnSp>
        <p:nvCxnSpPr>
          <p:cNvPr id="11" name="Straight Connector 10">
            <a:extLst>
              <a:ext uri="{FF2B5EF4-FFF2-40B4-BE49-F238E27FC236}">
                <a16:creationId xmlns:a16="http://schemas.microsoft.com/office/drawing/2014/main" id="{45BCCB49-B57F-D5E4-6E68-D2B1C2158057}"/>
              </a:ext>
            </a:extLst>
          </p:cNvPr>
          <p:cNvCxnSpPr>
            <a:stCxn id="3" idx="2"/>
          </p:cNvCxnSpPr>
          <p:nvPr/>
        </p:nvCxnSpPr>
        <p:spPr>
          <a:xfrm flipH="1">
            <a:off x="6258265" y="3179936"/>
            <a:ext cx="1" cy="4796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F427560-E719-D169-04E0-A8D7ED2D91BF}"/>
              </a:ext>
            </a:extLst>
          </p:cNvPr>
          <p:cNvCxnSpPr/>
          <p:nvPr/>
        </p:nvCxnSpPr>
        <p:spPr>
          <a:xfrm>
            <a:off x="4668901" y="3659575"/>
            <a:ext cx="3234012"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BC6409-189E-2593-14EF-2F0ECA110825}"/>
              </a:ext>
            </a:extLst>
          </p:cNvPr>
          <p:cNvCxnSpPr>
            <a:cxnSpLocks/>
          </p:cNvCxnSpPr>
          <p:nvPr/>
        </p:nvCxnSpPr>
        <p:spPr>
          <a:xfrm>
            <a:off x="4676083" y="3644415"/>
            <a:ext cx="0" cy="28985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2887DD27-B2B8-42BF-573F-F1EE60B42E6C}"/>
              </a:ext>
            </a:extLst>
          </p:cNvPr>
          <p:cNvCxnSpPr>
            <a:cxnSpLocks/>
          </p:cNvCxnSpPr>
          <p:nvPr/>
        </p:nvCxnSpPr>
        <p:spPr>
          <a:xfrm>
            <a:off x="7889053" y="3659575"/>
            <a:ext cx="0" cy="28985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9929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75822-10BE-BBB3-A52D-752A7689CC2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D83048-3A12-CBB8-1445-9C48F46A60A5}"/>
              </a:ext>
            </a:extLst>
          </p:cNvPr>
          <p:cNvSpPr>
            <a:spLocks noGrp="1"/>
          </p:cNvSpPr>
          <p:nvPr>
            <p:ph type="sldNum" sz="quarter" idx="4"/>
          </p:nvPr>
        </p:nvSpPr>
        <p:spPr/>
        <p:txBody>
          <a:bodyPr/>
          <a:lstStyle/>
          <a:p>
            <a:fld id="{94599A10-5031-416A-8935-40C3BCBA0AF7}" type="slidenum">
              <a:rPr lang="en-US" smtClean="0"/>
              <a:pPr/>
              <a:t>12</a:t>
            </a:fld>
            <a:endParaRPr lang="en-US" dirty="0"/>
          </a:p>
        </p:txBody>
      </p:sp>
      <p:sp>
        <p:nvSpPr>
          <p:cNvPr id="8" name="Title 1">
            <a:extLst>
              <a:ext uri="{FF2B5EF4-FFF2-40B4-BE49-F238E27FC236}">
                <a16:creationId xmlns:a16="http://schemas.microsoft.com/office/drawing/2014/main" id="{4C101C6B-7B3A-C632-79E3-1C8768344C24}"/>
              </a:ext>
            </a:extLst>
          </p:cNvPr>
          <p:cNvSpPr>
            <a:spLocks noGrp="1"/>
          </p:cNvSpPr>
          <p:nvPr>
            <p:ph type="title"/>
          </p:nvPr>
        </p:nvSpPr>
        <p:spPr>
          <a:xfrm>
            <a:off x="730622" y="149525"/>
            <a:ext cx="10515600" cy="1160655"/>
          </a:xfrm>
        </p:spPr>
        <p:txBody>
          <a:bodyPr>
            <a:noAutofit/>
          </a:bodyPr>
          <a:lstStyle/>
          <a:p>
            <a:pPr rtl="0">
              <a:spcBef>
                <a:spcPts val="0"/>
              </a:spcBef>
              <a:spcAft>
                <a:spcPts val="0"/>
              </a:spcAft>
            </a:pPr>
            <a:br>
              <a:rPr lang="en-US" sz="3600" i="0" u="none" strike="noStrike" dirty="0">
                <a:solidFill>
                  <a:srgbClr val="A32837"/>
                </a:solidFill>
                <a:effectLst/>
              </a:rPr>
            </a:br>
            <a:br>
              <a:rPr lang="en-US" sz="3600" i="0" u="none" strike="noStrike" dirty="0">
                <a:solidFill>
                  <a:srgbClr val="A32837"/>
                </a:solidFill>
                <a:effectLst/>
              </a:rPr>
            </a:br>
            <a:r>
              <a:rPr lang="en-US" sz="3600" i="0" u="none" strike="noStrike" dirty="0">
                <a:solidFill>
                  <a:srgbClr val="A32837"/>
                </a:solidFill>
                <a:effectLst/>
              </a:rPr>
              <a:t>Pie chart</a:t>
            </a:r>
            <a:br>
              <a:rPr lang="en-US" sz="3600" dirty="0">
                <a:effectLst/>
              </a:rPr>
            </a:br>
            <a:br>
              <a:rPr lang="en-US" sz="3600" dirty="0"/>
            </a:br>
            <a:endParaRPr lang="en-US" sz="3600" dirty="0"/>
          </a:p>
        </p:txBody>
      </p:sp>
      <p:cxnSp>
        <p:nvCxnSpPr>
          <p:cNvPr id="9" name="Straight Connector 8">
            <a:extLst>
              <a:ext uri="{FF2B5EF4-FFF2-40B4-BE49-F238E27FC236}">
                <a16:creationId xmlns:a16="http://schemas.microsoft.com/office/drawing/2014/main" id="{5E3ADFF6-142B-9E8C-5FAB-A581375E26E6}"/>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E49F4E9-4931-D477-01F5-9E954F7C67DF}"/>
              </a:ext>
            </a:extLst>
          </p:cNvPr>
          <p:cNvCxnSpPr>
            <a:cxnSpLocks/>
          </p:cNvCxnSpPr>
          <p:nvPr/>
        </p:nvCxnSpPr>
        <p:spPr>
          <a:xfrm>
            <a:off x="4312307"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21" name="Chart 20">
            <a:extLst>
              <a:ext uri="{FF2B5EF4-FFF2-40B4-BE49-F238E27FC236}">
                <a16:creationId xmlns:a16="http://schemas.microsoft.com/office/drawing/2014/main" id="{3CA98D02-1E0E-2EC6-E62A-45AC4CBC34EE}"/>
              </a:ext>
            </a:extLst>
          </p:cNvPr>
          <p:cNvGraphicFramePr/>
          <p:nvPr>
            <p:extLst>
              <p:ext uri="{D42A27DB-BD31-4B8C-83A1-F6EECF244321}">
                <p14:modId xmlns:p14="http://schemas.microsoft.com/office/powerpoint/2010/main" val="2133472326"/>
              </p:ext>
            </p:extLst>
          </p:nvPr>
        </p:nvGraphicFramePr>
        <p:xfrm>
          <a:off x="1394461" y="1762546"/>
          <a:ext cx="7376160" cy="445802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75785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2700-31C1-F6E4-4BF3-668D250F42A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65987F-1D74-4646-DC9C-9088DD888B8C}"/>
              </a:ext>
            </a:extLst>
          </p:cNvPr>
          <p:cNvSpPr>
            <a:spLocks noGrp="1"/>
          </p:cNvSpPr>
          <p:nvPr>
            <p:ph type="sldNum" sz="quarter" idx="4"/>
          </p:nvPr>
        </p:nvSpPr>
        <p:spPr/>
        <p:txBody>
          <a:bodyPr/>
          <a:lstStyle/>
          <a:p>
            <a:fld id="{94599A10-5031-416A-8935-40C3BCBA0AF7}" type="slidenum">
              <a:rPr lang="en-US" smtClean="0"/>
              <a:pPr/>
              <a:t>13</a:t>
            </a:fld>
            <a:endParaRPr lang="en-US" dirty="0"/>
          </a:p>
        </p:txBody>
      </p:sp>
      <p:sp>
        <p:nvSpPr>
          <p:cNvPr id="8" name="Title 1">
            <a:extLst>
              <a:ext uri="{FF2B5EF4-FFF2-40B4-BE49-F238E27FC236}">
                <a16:creationId xmlns:a16="http://schemas.microsoft.com/office/drawing/2014/main" id="{905C7683-34CE-BE62-BCAF-70C3F16F0E1A}"/>
              </a:ext>
            </a:extLst>
          </p:cNvPr>
          <p:cNvSpPr>
            <a:spLocks noGrp="1"/>
          </p:cNvSpPr>
          <p:nvPr>
            <p:ph type="title"/>
          </p:nvPr>
        </p:nvSpPr>
        <p:spPr>
          <a:xfrm>
            <a:off x="730622" y="673962"/>
            <a:ext cx="3706907" cy="664682"/>
          </a:xfrm>
        </p:spPr>
        <p:txBody>
          <a:bodyPr>
            <a:noAutofit/>
          </a:bodyPr>
          <a:lstStyle/>
          <a:p>
            <a:pPr rtl="0">
              <a:spcBef>
                <a:spcPts val="0"/>
              </a:spcBef>
              <a:spcAft>
                <a:spcPts val="0"/>
              </a:spcAft>
            </a:pPr>
            <a:r>
              <a:rPr lang="en-US" sz="4800" i="0" u="none" strike="noStrike" dirty="0">
                <a:solidFill>
                  <a:srgbClr val="A32837"/>
                </a:solidFill>
                <a:effectLst/>
              </a:rPr>
              <a:t>Thank You!</a:t>
            </a:r>
            <a:endParaRPr lang="en-US" sz="4800" dirty="0"/>
          </a:p>
        </p:txBody>
      </p:sp>
      <p:cxnSp>
        <p:nvCxnSpPr>
          <p:cNvPr id="9" name="Straight Connector 8">
            <a:extLst>
              <a:ext uri="{FF2B5EF4-FFF2-40B4-BE49-F238E27FC236}">
                <a16:creationId xmlns:a16="http://schemas.microsoft.com/office/drawing/2014/main" id="{21F718C2-37F5-1210-38ED-D70A376E8BE5}"/>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13CB39-7A1C-41DE-AC01-301A5E16497D}"/>
              </a:ext>
            </a:extLst>
          </p:cNvPr>
          <p:cNvCxnSpPr>
            <a:cxnSpLocks/>
          </p:cNvCxnSpPr>
          <p:nvPr/>
        </p:nvCxnSpPr>
        <p:spPr>
          <a:xfrm>
            <a:off x="4312307"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B3DA488-75F2-9186-1D02-A747C47DB035}"/>
              </a:ext>
            </a:extLst>
          </p:cNvPr>
          <p:cNvSpPr>
            <a:spLocks noGrp="1"/>
          </p:cNvSpPr>
          <p:nvPr>
            <p:ph idx="1"/>
          </p:nvPr>
        </p:nvSpPr>
        <p:spPr>
          <a:xfrm>
            <a:off x="838200" y="1825625"/>
            <a:ext cx="10515600" cy="4351338"/>
          </a:xfrm>
        </p:spPr>
        <p:txBody>
          <a:bodyPr>
            <a:normAutofit/>
          </a:bodyPr>
          <a:lstStyle/>
          <a:p>
            <a:pPr marL="0" indent="0" rtl="0">
              <a:spcBef>
                <a:spcPts val="0"/>
              </a:spcBef>
              <a:spcAft>
                <a:spcPts val="0"/>
              </a:spcAft>
              <a:buNone/>
            </a:pPr>
            <a:r>
              <a:rPr lang="en-US" sz="3200" b="0" i="0" u="none" strike="noStrike" dirty="0">
                <a:solidFill>
                  <a:srgbClr val="000000"/>
                </a:solidFill>
                <a:effectLst/>
                <a:latin typeface="+mj-lt"/>
              </a:rPr>
              <a:t>For any query/suggestions pls mail us at </a:t>
            </a:r>
            <a:endParaRPr lang="en-US" sz="3200" b="0" dirty="0">
              <a:effectLst/>
              <a:latin typeface="+mj-lt"/>
            </a:endParaRPr>
          </a:p>
          <a:p>
            <a:pPr marL="0" indent="0" rtl="0">
              <a:spcBef>
                <a:spcPts val="0"/>
              </a:spcBef>
              <a:spcAft>
                <a:spcPts val="0"/>
              </a:spcAft>
              <a:buNone/>
            </a:pPr>
            <a:r>
              <a:rPr lang="en-US" sz="3200" b="1" u="sng" dirty="0">
                <a:solidFill>
                  <a:srgbClr val="000000"/>
                </a:solidFill>
                <a:latin typeface="+mj-lt"/>
                <a:hlinkClick r:id="rId2"/>
              </a:rPr>
              <a:t>en23it301064</a:t>
            </a:r>
            <a:r>
              <a:rPr lang="en-US" sz="3200" b="1" i="0" u="sng" strike="noStrike" dirty="0">
                <a:solidFill>
                  <a:srgbClr val="000000"/>
                </a:solidFill>
                <a:effectLst/>
                <a:latin typeface="+mj-lt"/>
                <a:hlinkClick r:id="rId2"/>
              </a:rPr>
              <a:t>@medicaps.ac.in</a:t>
            </a:r>
            <a:endParaRPr lang="en-US" sz="3200" b="0" dirty="0">
              <a:effectLst/>
              <a:latin typeface="+mj-lt"/>
            </a:endParaRPr>
          </a:p>
          <a:p>
            <a:pPr marL="0" indent="0">
              <a:buNone/>
            </a:pPr>
            <a:br>
              <a:rPr lang="en-US" sz="4000" dirty="0">
                <a:latin typeface="+mj-lt"/>
              </a:rPr>
            </a:br>
            <a:endParaRPr lang="en-US" sz="4000" dirty="0">
              <a:latin typeface="+mj-lt"/>
            </a:endParaRPr>
          </a:p>
          <a:p>
            <a:pPr marL="0" indent="0">
              <a:buNone/>
            </a:pPr>
            <a:endParaRPr lang="en-US" sz="2500" dirty="0"/>
          </a:p>
          <a:p>
            <a:pPr marL="0" indent="0">
              <a:buNone/>
            </a:pPr>
            <a:endParaRPr lang="en-US" sz="2500" dirty="0"/>
          </a:p>
          <a:p>
            <a:pPr marL="0" indent="0">
              <a:buNone/>
            </a:pPr>
            <a:endParaRPr lang="en-US" sz="2500" dirty="0"/>
          </a:p>
          <a:p>
            <a:pPr marL="0" indent="0">
              <a:buNone/>
            </a:pPr>
            <a:endParaRPr lang="en-US" sz="2500" dirty="0"/>
          </a:p>
        </p:txBody>
      </p:sp>
    </p:spTree>
    <p:extLst>
      <p:ext uri="{BB962C8B-B14F-4D97-AF65-F5344CB8AC3E}">
        <p14:creationId xmlns:p14="http://schemas.microsoft.com/office/powerpoint/2010/main" val="1243924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603917"/>
      </p:ext>
    </p:extLst>
  </p:cSld>
  <p:clrMapOvr>
    <a:masterClrMapping/>
  </p:clrMapOvr>
</p:sld>
</file>

<file path=ppt/theme/theme1.xml><?xml version="1.0" encoding="utf-8"?>
<a:theme xmlns:a="http://schemas.openxmlformats.org/drawingml/2006/main" name="Office Theme">
  <a:themeElements>
    <a:clrScheme name="Custom 5">
      <a:dk1>
        <a:srgbClr val="000000"/>
      </a:dk1>
      <a:lt1>
        <a:sysClr val="window" lastClr="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Medicaps">
      <a:majorFont>
        <a:latin typeface="Metropolis Semi Bold"/>
        <a:ea typeface=""/>
        <a:cs typeface=""/>
      </a:majorFont>
      <a:minorFont>
        <a:latin typeface="Metropoli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617A8B78-F622-4C57-A45F-FE0E80141807}" vid="{1E4079A0-7BD4-493D-B6C3-8779881B8C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Template>
  <TotalTime>95</TotalTime>
  <Words>513</Words>
  <Application>Microsoft Office PowerPoint</Application>
  <PresentationFormat>Widescreen</PresentationFormat>
  <Paragraphs>104</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Metropolis</vt:lpstr>
      <vt:lpstr>Metropolis Semi Bold</vt:lpstr>
      <vt:lpstr>Zilla Slab</vt:lpstr>
      <vt:lpstr>Office Theme</vt:lpstr>
      <vt:lpstr>Expancify</vt:lpstr>
      <vt:lpstr>Introduction</vt:lpstr>
      <vt:lpstr>Objectives </vt:lpstr>
      <vt:lpstr>Key Points</vt:lpstr>
      <vt:lpstr>PowerPoint Presentation</vt:lpstr>
      <vt:lpstr>Visual Overview</vt:lpstr>
      <vt:lpstr>Features Overview</vt:lpstr>
      <vt:lpstr>Detailed Explanation</vt:lpstr>
      <vt:lpstr>Tech-Stack</vt:lpstr>
      <vt:lpstr>Comparison Table</vt:lpstr>
      <vt:lpstr>Flowchart </vt:lpstr>
      <vt:lpstr>  Pie chart  </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Kunal Choudhary</dc:creator>
  <cp:lastModifiedBy>Kunal Choudhary</cp:lastModifiedBy>
  <cp:revision>5</cp:revision>
  <dcterms:created xsi:type="dcterms:W3CDTF">2026-04-25T10:39:37Z</dcterms:created>
  <dcterms:modified xsi:type="dcterms:W3CDTF">2026-04-29T08:09:52Z</dcterms:modified>
</cp:coreProperties>
</file>